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8" r:id="rId3"/>
    <p:sldId id="259" r:id="rId4"/>
    <p:sldId id="260" r:id="rId5"/>
    <p:sldId id="284" r:id="rId6"/>
    <p:sldId id="285" r:id="rId7"/>
    <p:sldId id="286" r:id="rId8"/>
    <p:sldId id="282" r:id="rId9"/>
    <p:sldId id="261" r:id="rId10"/>
    <p:sldId id="283" r:id="rId11"/>
    <p:sldId id="262" r:id="rId12"/>
    <p:sldId id="269" r:id="rId13"/>
    <p:sldId id="270" r:id="rId14"/>
    <p:sldId id="271" r:id="rId15"/>
    <p:sldId id="272" r:id="rId16"/>
    <p:sldId id="277" r:id="rId17"/>
    <p:sldId id="278" r:id="rId18"/>
    <p:sldId id="273" r:id="rId19"/>
    <p:sldId id="274" r:id="rId20"/>
    <p:sldId id="257" r:id="rId21"/>
  </p:sldIdLst>
  <p:sldSz cx="12192000" cy="6858000"/>
  <p:notesSz cx="6858000" cy="9144000"/>
  <p:defaultText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40"/>
  </p:normalViewPr>
  <p:slideViewPr>
    <p:cSldViewPr snapToGrid="0">
      <p:cViewPr varScale="1">
        <p:scale>
          <a:sx n="111" d="100"/>
          <a:sy n="111" d="100"/>
        </p:scale>
        <p:origin x="63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949B54-9AD7-0D4F-8C32-C91B270DD7EC}" type="datetimeFigureOut">
              <a:rPr lang="en-PS" smtClean="0"/>
              <a:t>26/09/2023</a:t>
            </a:fld>
            <a:endParaRPr lang="en-P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20B2C7-5B3E-F147-BB66-436CA9DEF836}" type="slidenum">
              <a:rPr lang="en-PS" smtClean="0"/>
              <a:t>‹#›</a:t>
            </a:fld>
            <a:endParaRPr lang="en-PS"/>
          </a:p>
        </p:txBody>
      </p:sp>
    </p:spTree>
    <p:extLst>
      <p:ext uri="{BB962C8B-B14F-4D97-AF65-F5344CB8AC3E}">
        <p14:creationId xmlns:p14="http://schemas.microsoft.com/office/powerpoint/2010/main" val="2623520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S" dirty="0"/>
          </a:p>
        </p:txBody>
      </p:sp>
      <p:sp>
        <p:nvSpPr>
          <p:cNvPr id="4" name="Slide Number Placeholder 3"/>
          <p:cNvSpPr>
            <a:spLocks noGrp="1"/>
          </p:cNvSpPr>
          <p:nvPr>
            <p:ph type="sldNum" sz="quarter" idx="5"/>
          </p:nvPr>
        </p:nvSpPr>
        <p:spPr/>
        <p:txBody>
          <a:bodyPr/>
          <a:lstStyle/>
          <a:p>
            <a:fld id="{9E20B2C7-5B3E-F147-BB66-436CA9DEF836}" type="slidenum">
              <a:rPr lang="en-PS" smtClean="0"/>
              <a:t>3</a:t>
            </a:fld>
            <a:endParaRPr lang="en-PS"/>
          </a:p>
        </p:txBody>
      </p:sp>
    </p:spTree>
    <p:extLst>
      <p:ext uri="{BB962C8B-B14F-4D97-AF65-F5344CB8AC3E}">
        <p14:creationId xmlns:p14="http://schemas.microsoft.com/office/powerpoint/2010/main" val="4207188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4116F-2DC1-39A9-FEE7-5C9459C829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S"/>
          </a:p>
        </p:txBody>
      </p:sp>
      <p:sp>
        <p:nvSpPr>
          <p:cNvPr id="3" name="Subtitle 2">
            <a:extLst>
              <a:ext uri="{FF2B5EF4-FFF2-40B4-BE49-F238E27FC236}">
                <a16:creationId xmlns:a16="http://schemas.microsoft.com/office/drawing/2014/main" id="{C5AEF245-BEBE-2985-E172-51DBB0EDB9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S"/>
          </a:p>
        </p:txBody>
      </p:sp>
      <p:sp>
        <p:nvSpPr>
          <p:cNvPr id="4" name="Date Placeholder 3">
            <a:extLst>
              <a:ext uri="{FF2B5EF4-FFF2-40B4-BE49-F238E27FC236}">
                <a16:creationId xmlns:a16="http://schemas.microsoft.com/office/drawing/2014/main" id="{0F26412E-2BB5-9BB6-6FA5-273672DC90EE}"/>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5" name="Footer Placeholder 4">
            <a:extLst>
              <a:ext uri="{FF2B5EF4-FFF2-40B4-BE49-F238E27FC236}">
                <a16:creationId xmlns:a16="http://schemas.microsoft.com/office/drawing/2014/main" id="{BC1017E8-B9D0-6A37-AFD4-905B141559D4}"/>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EA61B8A8-B251-25BB-FA14-B5E04189F77B}"/>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906139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E0D3A-AA7F-FB7E-988D-77337AE7B1D2}"/>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E3A5C454-941F-B930-742B-1BA5FCA010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A711D296-748B-A3F6-171B-F468D7180593}"/>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5" name="Footer Placeholder 4">
            <a:extLst>
              <a:ext uri="{FF2B5EF4-FFF2-40B4-BE49-F238E27FC236}">
                <a16:creationId xmlns:a16="http://schemas.microsoft.com/office/drawing/2014/main" id="{AB937BE8-7D8C-AEA2-4C05-C05BE5F9BEB0}"/>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B5EC1FEA-565C-B3FF-71C5-2634D54F12D0}"/>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34524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1C6B5-AA94-D55C-8F0C-AE3AF4AC20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S"/>
          </a:p>
        </p:txBody>
      </p:sp>
      <p:sp>
        <p:nvSpPr>
          <p:cNvPr id="3" name="Text Placeholder 2">
            <a:extLst>
              <a:ext uri="{FF2B5EF4-FFF2-40B4-BE49-F238E27FC236}">
                <a16:creationId xmlns:a16="http://schemas.microsoft.com/office/drawing/2014/main" id="{2C35FD28-CC92-3FA3-9039-9D2C796025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517939-2B1C-1869-9F8B-EACC62D71A3F}"/>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5" name="Footer Placeholder 4">
            <a:extLst>
              <a:ext uri="{FF2B5EF4-FFF2-40B4-BE49-F238E27FC236}">
                <a16:creationId xmlns:a16="http://schemas.microsoft.com/office/drawing/2014/main" id="{3D13F257-CC27-F473-4924-2D5B29290441}"/>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8EE78EC8-4593-0CBF-60BD-0DC0134C0B0A}"/>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126449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65F37-61B9-432E-93D4-C3131C20AC50}"/>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923A2A57-1B0C-9D0A-EBCC-BDC8B9DAA0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Content Placeholder 3">
            <a:extLst>
              <a:ext uri="{FF2B5EF4-FFF2-40B4-BE49-F238E27FC236}">
                <a16:creationId xmlns:a16="http://schemas.microsoft.com/office/drawing/2014/main" id="{5D18D3BD-666D-C4AF-EB6F-1C84B2E8E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Date Placeholder 4">
            <a:extLst>
              <a:ext uri="{FF2B5EF4-FFF2-40B4-BE49-F238E27FC236}">
                <a16:creationId xmlns:a16="http://schemas.microsoft.com/office/drawing/2014/main" id="{7E41E797-CCAA-8AA9-9853-256C578DE2B7}"/>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6" name="Footer Placeholder 5">
            <a:extLst>
              <a:ext uri="{FF2B5EF4-FFF2-40B4-BE49-F238E27FC236}">
                <a16:creationId xmlns:a16="http://schemas.microsoft.com/office/drawing/2014/main" id="{FA482753-4BBE-6B6E-4EC0-56BAE5A29F5E}"/>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C170A403-5CF3-D7EC-A347-6E13785BC1E0}"/>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3828790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D5614-3AA2-15FA-2A40-781E2A373D5A}"/>
              </a:ext>
            </a:extLst>
          </p:cNvPr>
          <p:cNvSpPr>
            <a:spLocks noGrp="1"/>
          </p:cNvSpPr>
          <p:nvPr>
            <p:ph type="title"/>
          </p:nvPr>
        </p:nvSpPr>
        <p:spPr>
          <a:xfrm>
            <a:off x="839788" y="365125"/>
            <a:ext cx="10515600" cy="1325563"/>
          </a:xfrm>
        </p:spPr>
        <p:txBody>
          <a:bodyPr/>
          <a:lstStyle/>
          <a:p>
            <a:r>
              <a:rPr lang="en-US"/>
              <a:t>Click to edit Master title style</a:t>
            </a:r>
            <a:endParaRPr lang="en-PS"/>
          </a:p>
        </p:txBody>
      </p:sp>
      <p:sp>
        <p:nvSpPr>
          <p:cNvPr id="3" name="Text Placeholder 2">
            <a:extLst>
              <a:ext uri="{FF2B5EF4-FFF2-40B4-BE49-F238E27FC236}">
                <a16:creationId xmlns:a16="http://schemas.microsoft.com/office/drawing/2014/main" id="{6DCCB484-81B4-B63C-9F43-DF47A39E47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F33228-9352-7327-DE58-E2167C4686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Text Placeholder 4">
            <a:extLst>
              <a:ext uri="{FF2B5EF4-FFF2-40B4-BE49-F238E27FC236}">
                <a16:creationId xmlns:a16="http://schemas.microsoft.com/office/drawing/2014/main" id="{073F46C4-024F-E40B-2106-A81379DFE2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66808C-C2D6-191D-5730-65CBC90EC1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7" name="Date Placeholder 6">
            <a:extLst>
              <a:ext uri="{FF2B5EF4-FFF2-40B4-BE49-F238E27FC236}">
                <a16:creationId xmlns:a16="http://schemas.microsoft.com/office/drawing/2014/main" id="{BCDD13E1-FA14-4569-6DD0-2146A83DF522}"/>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8" name="Footer Placeholder 7">
            <a:extLst>
              <a:ext uri="{FF2B5EF4-FFF2-40B4-BE49-F238E27FC236}">
                <a16:creationId xmlns:a16="http://schemas.microsoft.com/office/drawing/2014/main" id="{E127F1AF-7C04-B164-F19C-7535874CDB90}"/>
              </a:ext>
            </a:extLst>
          </p:cNvPr>
          <p:cNvSpPr>
            <a:spLocks noGrp="1"/>
          </p:cNvSpPr>
          <p:nvPr>
            <p:ph type="ftr" sz="quarter" idx="11"/>
          </p:nvPr>
        </p:nvSpPr>
        <p:spPr/>
        <p:txBody>
          <a:bodyPr/>
          <a:lstStyle/>
          <a:p>
            <a:endParaRPr lang="en-PS"/>
          </a:p>
        </p:txBody>
      </p:sp>
      <p:sp>
        <p:nvSpPr>
          <p:cNvPr id="9" name="Slide Number Placeholder 8">
            <a:extLst>
              <a:ext uri="{FF2B5EF4-FFF2-40B4-BE49-F238E27FC236}">
                <a16:creationId xmlns:a16="http://schemas.microsoft.com/office/drawing/2014/main" id="{E20DD307-E258-DCD0-7FAE-59F2E25E025D}"/>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687379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F385F-75B6-8E50-453D-6BCF6754CF2B}"/>
              </a:ext>
            </a:extLst>
          </p:cNvPr>
          <p:cNvSpPr>
            <a:spLocks noGrp="1"/>
          </p:cNvSpPr>
          <p:nvPr>
            <p:ph type="title"/>
          </p:nvPr>
        </p:nvSpPr>
        <p:spPr/>
        <p:txBody>
          <a:bodyPr/>
          <a:lstStyle/>
          <a:p>
            <a:r>
              <a:rPr lang="en-US"/>
              <a:t>Click to edit Master title style</a:t>
            </a:r>
            <a:endParaRPr lang="en-PS"/>
          </a:p>
        </p:txBody>
      </p:sp>
      <p:sp>
        <p:nvSpPr>
          <p:cNvPr id="3" name="Date Placeholder 2">
            <a:extLst>
              <a:ext uri="{FF2B5EF4-FFF2-40B4-BE49-F238E27FC236}">
                <a16:creationId xmlns:a16="http://schemas.microsoft.com/office/drawing/2014/main" id="{69B967B1-397D-40A0-E6CF-647721584D70}"/>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4" name="Footer Placeholder 3">
            <a:extLst>
              <a:ext uri="{FF2B5EF4-FFF2-40B4-BE49-F238E27FC236}">
                <a16:creationId xmlns:a16="http://schemas.microsoft.com/office/drawing/2014/main" id="{EB739F43-04D5-A725-B1A2-40DBF14A8E8D}"/>
              </a:ext>
            </a:extLst>
          </p:cNvPr>
          <p:cNvSpPr>
            <a:spLocks noGrp="1"/>
          </p:cNvSpPr>
          <p:nvPr>
            <p:ph type="ftr" sz="quarter" idx="11"/>
          </p:nvPr>
        </p:nvSpPr>
        <p:spPr/>
        <p:txBody>
          <a:bodyPr/>
          <a:lstStyle/>
          <a:p>
            <a:endParaRPr lang="en-PS"/>
          </a:p>
        </p:txBody>
      </p:sp>
      <p:sp>
        <p:nvSpPr>
          <p:cNvPr id="5" name="Slide Number Placeholder 4">
            <a:extLst>
              <a:ext uri="{FF2B5EF4-FFF2-40B4-BE49-F238E27FC236}">
                <a16:creationId xmlns:a16="http://schemas.microsoft.com/office/drawing/2014/main" id="{72D5F842-471A-E75A-6901-6C31C18718C2}"/>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2057990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82E431-58BE-3FF9-25EC-E9D7669BB444}"/>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3" name="Footer Placeholder 2">
            <a:extLst>
              <a:ext uri="{FF2B5EF4-FFF2-40B4-BE49-F238E27FC236}">
                <a16:creationId xmlns:a16="http://schemas.microsoft.com/office/drawing/2014/main" id="{81C86CD7-4889-84FE-AE60-586AF6EBCFEA}"/>
              </a:ext>
            </a:extLst>
          </p:cNvPr>
          <p:cNvSpPr>
            <a:spLocks noGrp="1"/>
          </p:cNvSpPr>
          <p:nvPr>
            <p:ph type="ftr" sz="quarter" idx="11"/>
          </p:nvPr>
        </p:nvSpPr>
        <p:spPr/>
        <p:txBody>
          <a:bodyPr/>
          <a:lstStyle/>
          <a:p>
            <a:endParaRPr lang="en-PS"/>
          </a:p>
        </p:txBody>
      </p:sp>
      <p:sp>
        <p:nvSpPr>
          <p:cNvPr id="4" name="Slide Number Placeholder 3">
            <a:extLst>
              <a:ext uri="{FF2B5EF4-FFF2-40B4-BE49-F238E27FC236}">
                <a16:creationId xmlns:a16="http://schemas.microsoft.com/office/drawing/2014/main" id="{42537453-20A8-0228-FBEF-3C8BA48F911F}"/>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2590157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602A-1B41-D344-C2F6-4530AFF034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Content Placeholder 2">
            <a:extLst>
              <a:ext uri="{FF2B5EF4-FFF2-40B4-BE49-F238E27FC236}">
                <a16:creationId xmlns:a16="http://schemas.microsoft.com/office/drawing/2014/main" id="{240656E3-8554-128D-996B-69E4C3267D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Text Placeholder 3">
            <a:extLst>
              <a:ext uri="{FF2B5EF4-FFF2-40B4-BE49-F238E27FC236}">
                <a16:creationId xmlns:a16="http://schemas.microsoft.com/office/drawing/2014/main" id="{F53700DF-FCCE-C505-8B80-22EA95B757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B9B075-2C05-E235-5FF9-126A7F9AA507}"/>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6" name="Footer Placeholder 5">
            <a:extLst>
              <a:ext uri="{FF2B5EF4-FFF2-40B4-BE49-F238E27FC236}">
                <a16:creationId xmlns:a16="http://schemas.microsoft.com/office/drawing/2014/main" id="{CFD683A4-5855-C5CA-FA6B-8778E856EE3B}"/>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E8053CDE-6337-1DC0-B40E-FD93D42794DF}"/>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4199729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2AE49-7B7F-3096-446E-0EB8A129EF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Picture Placeholder 2">
            <a:extLst>
              <a:ext uri="{FF2B5EF4-FFF2-40B4-BE49-F238E27FC236}">
                <a16:creationId xmlns:a16="http://schemas.microsoft.com/office/drawing/2014/main" id="{58A43EBD-7D8F-3843-BEB5-17EE2927B5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S"/>
          </a:p>
        </p:txBody>
      </p:sp>
      <p:sp>
        <p:nvSpPr>
          <p:cNvPr id="4" name="Text Placeholder 3">
            <a:extLst>
              <a:ext uri="{FF2B5EF4-FFF2-40B4-BE49-F238E27FC236}">
                <a16:creationId xmlns:a16="http://schemas.microsoft.com/office/drawing/2014/main" id="{86EFE7C1-8457-E844-D049-B363C59347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D29A7B-F38F-C711-78DD-844A36D948C4}"/>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6" name="Footer Placeholder 5">
            <a:extLst>
              <a:ext uri="{FF2B5EF4-FFF2-40B4-BE49-F238E27FC236}">
                <a16:creationId xmlns:a16="http://schemas.microsoft.com/office/drawing/2014/main" id="{F042B517-C0F7-8513-7B1F-9DD69F63C85F}"/>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9EB3B589-7B28-5697-21D5-8233D40576AA}"/>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1361802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65446-1BF5-4483-63EA-266EB69AD2C9}"/>
              </a:ext>
            </a:extLst>
          </p:cNvPr>
          <p:cNvSpPr>
            <a:spLocks noGrp="1"/>
          </p:cNvSpPr>
          <p:nvPr>
            <p:ph type="title"/>
          </p:nvPr>
        </p:nvSpPr>
        <p:spPr/>
        <p:txBody>
          <a:bodyPr/>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2B670831-352E-33B6-D160-CA9DD314C8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FB135E2E-3068-60CB-0FED-4549D8D79051}"/>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5" name="Footer Placeholder 4">
            <a:extLst>
              <a:ext uri="{FF2B5EF4-FFF2-40B4-BE49-F238E27FC236}">
                <a16:creationId xmlns:a16="http://schemas.microsoft.com/office/drawing/2014/main" id="{CCEE9ADA-CCCE-19C7-3E1B-94AA6D5C5C48}"/>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0C865E2D-8FF6-CE4E-9E2F-9EE92FFD7110}"/>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3855110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93289C-13B2-DA76-5A9A-1C3C889E64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7210E685-DA36-7756-CF5F-DE1E247D49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E60AA3CB-FC94-9A19-1A5B-4D93AC1B42BE}"/>
              </a:ext>
            </a:extLst>
          </p:cNvPr>
          <p:cNvSpPr>
            <a:spLocks noGrp="1"/>
          </p:cNvSpPr>
          <p:nvPr>
            <p:ph type="dt" sz="half" idx="10"/>
          </p:nvPr>
        </p:nvSpPr>
        <p:spPr/>
        <p:txBody>
          <a:bodyPr/>
          <a:lstStyle/>
          <a:p>
            <a:fld id="{C0D41088-AF94-244B-AF08-471229A76134}" type="datetimeFigureOut">
              <a:rPr lang="en-PS" smtClean="0"/>
              <a:t>26/09/2023</a:t>
            </a:fld>
            <a:endParaRPr lang="en-PS"/>
          </a:p>
        </p:txBody>
      </p:sp>
      <p:sp>
        <p:nvSpPr>
          <p:cNvPr id="5" name="Footer Placeholder 4">
            <a:extLst>
              <a:ext uri="{FF2B5EF4-FFF2-40B4-BE49-F238E27FC236}">
                <a16:creationId xmlns:a16="http://schemas.microsoft.com/office/drawing/2014/main" id="{FA6591A9-B03E-EEE3-03A8-E52A5F38CC82}"/>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4724DCDA-660E-F5F2-1AD8-D351EA474D5C}"/>
              </a:ext>
            </a:extLst>
          </p:cNvPr>
          <p:cNvSpPr>
            <a:spLocks noGrp="1"/>
          </p:cNvSpPr>
          <p:nvPr>
            <p:ph type="sldNum" sz="quarter" idx="12"/>
          </p:nvPr>
        </p:nvSpPr>
        <p:spPr/>
        <p:txBody>
          <a:bodyPr/>
          <a:lstStyle/>
          <a:p>
            <a:fld id="{ED9B01FF-E6D0-D14F-AD6B-9DA0029EF074}" type="slidenum">
              <a:rPr lang="en-PS" smtClean="0"/>
              <a:t>‹#›</a:t>
            </a:fld>
            <a:endParaRPr lang="en-PS"/>
          </a:p>
        </p:txBody>
      </p:sp>
    </p:spTree>
    <p:extLst>
      <p:ext uri="{BB962C8B-B14F-4D97-AF65-F5344CB8AC3E}">
        <p14:creationId xmlns:p14="http://schemas.microsoft.com/office/powerpoint/2010/main" val="586535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65BD60-AA0F-B1F7-18AE-02CF277A4A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S"/>
          </a:p>
        </p:txBody>
      </p:sp>
      <p:sp>
        <p:nvSpPr>
          <p:cNvPr id="3" name="Text Placeholder 2">
            <a:extLst>
              <a:ext uri="{FF2B5EF4-FFF2-40B4-BE49-F238E27FC236}">
                <a16:creationId xmlns:a16="http://schemas.microsoft.com/office/drawing/2014/main" id="{CB891285-A056-383E-88FD-75B19F4AAF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1695CBB4-03DE-9D90-F6F2-F03CA19B5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D41088-AF94-244B-AF08-471229A76134}" type="datetimeFigureOut">
              <a:rPr lang="en-PS" smtClean="0"/>
              <a:t>26/09/2023</a:t>
            </a:fld>
            <a:endParaRPr lang="en-PS"/>
          </a:p>
        </p:txBody>
      </p:sp>
      <p:sp>
        <p:nvSpPr>
          <p:cNvPr id="5" name="Footer Placeholder 4">
            <a:extLst>
              <a:ext uri="{FF2B5EF4-FFF2-40B4-BE49-F238E27FC236}">
                <a16:creationId xmlns:a16="http://schemas.microsoft.com/office/drawing/2014/main" id="{7334F281-45D0-A252-FCCE-4E7DC1BF6A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S"/>
          </a:p>
        </p:txBody>
      </p:sp>
      <p:sp>
        <p:nvSpPr>
          <p:cNvPr id="6" name="Slide Number Placeholder 5">
            <a:extLst>
              <a:ext uri="{FF2B5EF4-FFF2-40B4-BE49-F238E27FC236}">
                <a16:creationId xmlns:a16="http://schemas.microsoft.com/office/drawing/2014/main" id="{BC529075-A908-CDDA-5329-20C27DC193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9B01FF-E6D0-D14F-AD6B-9DA0029EF074}" type="slidenum">
              <a:rPr lang="en-PS" smtClean="0"/>
              <a:t>‹#›</a:t>
            </a:fld>
            <a:endParaRPr lang="en-PS"/>
          </a:p>
        </p:txBody>
      </p:sp>
    </p:spTree>
    <p:extLst>
      <p:ext uri="{BB962C8B-B14F-4D97-AF65-F5344CB8AC3E}">
        <p14:creationId xmlns:p14="http://schemas.microsoft.com/office/powerpoint/2010/main" val="704300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1DC9-FA08-D455-91D4-D60B9B360C77}"/>
              </a:ext>
            </a:extLst>
          </p:cNvPr>
          <p:cNvSpPr>
            <a:spLocks noGrp="1"/>
          </p:cNvSpPr>
          <p:nvPr>
            <p:ph type="ctrTitle"/>
          </p:nvPr>
        </p:nvSpPr>
        <p:spPr>
          <a:xfrm>
            <a:off x="1408253" y="1378864"/>
            <a:ext cx="9144000" cy="1160302"/>
          </a:xfrm>
        </p:spPr>
        <p:txBody>
          <a:bodyPr/>
          <a:lstStyle/>
          <a:p>
            <a:r>
              <a:rPr lang="en-PS" b="1" dirty="0">
                <a:latin typeface="Arial Rounded MT Bold" panose="020F0704030504030204" pitchFamily="34" charset="77"/>
              </a:rPr>
              <a:t>Data Warehouses </a:t>
            </a:r>
          </a:p>
        </p:txBody>
      </p:sp>
      <p:sp>
        <p:nvSpPr>
          <p:cNvPr id="3" name="Subtitle 2">
            <a:extLst>
              <a:ext uri="{FF2B5EF4-FFF2-40B4-BE49-F238E27FC236}">
                <a16:creationId xmlns:a16="http://schemas.microsoft.com/office/drawing/2014/main" id="{663785E3-0FC2-399D-C399-B0EBCFB65BDD}"/>
              </a:ext>
            </a:extLst>
          </p:cNvPr>
          <p:cNvSpPr>
            <a:spLocks noGrp="1"/>
          </p:cNvSpPr>
          <p:nvPr>
            <p:ph type="subTitle" idx="1"/>
          </p:nvPr>
        </p:nvSpPr>
        <p:spPr>
          <a:xfrm>
            <a:off x="1524000" y="3661198"/>
            <a:ext cx="9144000" cy="1655762"/>
          </a:xfrm>
        </p:spPr>
        <p:txBody>
          <a:bodyPr>
            <a:normAutofit fontScale="85000" lnSpcReduction="20000"/>
          </a:bodyPr>
          <a:lstStyle/>
          <a:p>
            <a:pPr algn="l"/>
            <a:r>
              <a:rPr lang="en-US" b="1" dirty="0"/>
              <a:t>Lecture # 1</a:t>
            </a:r>
          </a:p>
          <a:p>
            <a:pPr algn="l"/>
            <a:r>
              <a:rPr lang="en-PS" b="1" dirty="0"/>
              <a:t>Topic : </a:t>
            </a:r>
            <a:r>
              <a:rPr lang="en-US" sz="1800" b="1" i="0" u="none" strike="noStrike" dirty="0">
                <a:solidFill>
                  <a:srgbClr val="000000"/>
                </a:solidFill>
                <a:effectLst/>
                <a:latin typeface="Arial" panose="020B0604020202020204" pitchFamily="34" charset="0"/>
              </a:rPr>
              <a:t>Introduction to Data Warehousing</a:t>
            </a:r>
            <a:endParaRPr lang="en-PS" b="1" dirty="0"/>
          </a:p>
          <a:p>
            <a:pPr algn="l"/>
            <a:r>
              <a:rPr lang="en-PS" b="1" dirty="0"/>
              <a:t>Prepared by: </a:t>
            </a:r>
            <a:r>
              <a:rPr lang="en-PS" sz="1800" b="1" dirty="0">
                <a:solidFill>
                  <a:srgbClr val="000000"/>
                </a:solidFill>
                <a:latin typeface="Arial" panose="020B0604020202020204" pitchFamily="34" charset="0"/>
              </a:rPr>
              <a:t>Eng. Basem Khalaf </a:t>
            </a:r>
          </a:p>
          <a:p>
            <a:pPr algn="l"/>
            <a:r>
              <a:rPr lang="en-PS" sz="1800" b="1" dirty="0">
                <a:solidFill>
                  <a:srgbClr val="000000"/>
                </a:solidFill>
                <a:latin typeface="Arial" panose="020B0604020202020204" pitchFamily="34" charset="0"/>
              </a:rPr>
              <a:t>Semster-1 , Level-3</a:t>
            </a:r>
          </a:p>
          <a:p>
            <a:pPr algn="l"/>
            <a:r>
              <a:rPr lang="en-PS" sz="1800" b="1" dirty="0">
                <a:solidFill>
                  <a:srgbClr val="000000"/>
                </a:solidFill>
                <a:latin typeface="Arial" panose="020B0604020202020204" pitchFamily="34" charset="0"/>
              </a:rPr>
              <a:t>Fall 2023 </a:t>
            </a:r>
          </a:p>
        </p:txBody>
      </p:sp>
      <p:pic>
        <p:nvPicPr>
          <p:cNvPr id="1030" name="Picture 6" descr="No photo description available.">
            <a:extLst>
              <a:ext uri="{FF2B5EF4-FFF2-40B4-BE49-F238E27FC236}">
                <a16:creationId xmlns:a16="http://schemas.microsoft.com/office/drawing/2014/main" id="{A1ED1E73-98B8-2AB5-0DF1-279CF21B9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12006"/>
            <a:ext cx="1524000" cy="1645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268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132E5-7130-DCCD-76DD-30D0CC517F03}"/>
              </a:ext>
            </a:extLst>
          </p:cNvPr>
          <p:cNvSpPr>
            <a:spLocks noGrp="1"/>
          </p:cNvSpPr>
          <p:nvPr>
            <p:ph type="title"/>
          </p:nvPr>
        </p:nvSpPr>
        <p:spPr/>
        <p:txBody>
          <a:bodyPr/>
          <a:lstStyle/>
          <a:p>
            <a:r>
              <a:rPr lang="en-PS" b="1" dirty="0">
                <a:latin typeface="Franklin Gothic Medium" panose="020B0603020102020204" pitchFamily="34" charset="0"/>
              </a:rPr>
              <a:t>Agenda </a:t>
            </a:r>
          </a:p>
        </p:txBody>
      </p:sp>
      <p:sp>
        <p:nvSpPr>
          <p:cNvPr id="3" name="Content Placeholder 2">
            <a:extLst>
              <a:ext uri="{FF2B5EF4-FFF2-40B4-BE49-F238E27FC236}">
                <a16:creationId xmlns:a16="http://schemas.microsoft.com/office/drawing/2014/main" id="{7AF92AE5-0805-7D14-95DE-38CBC3D44C8D}"/>
              </a:ext>
            </a:extLst>
          </p:cNvPr>
          <p:cNvSpPr>
            <a:spLocks noGrp="1"/>
          </p:cNvSpPr>
          <p:nvPr>
            <p:ph idx="1"/>
          </p:nvPr>
        </p:nvSpPr>
        <p:spPr>
          <a:xfrm>
            <a:off x="838200" y="2253888"/>
            <a:ext cx="10515600" cy="3464006"/>
          </a:xfrm>
        </p:spPr>
        <p:txBody>
          <a:bodyPr>
            <a:normAutofit fontScale="85000" lnSpcReduction="20000"/>
          </a:bodyPr>
          <a:lstStyle/>
          <a:p>
            <a:r>
              <a:rPr lang="en-PS" sz="3600" dirty="0"/>
              <a:t>Introduction </a:t>
            </a:r>
          </a:p>
          <a:p>
            <a:r>
              <a:rPr lang="en-US" sz="3600" dirty="0"/>
              <a:t>Historical Perspective - </a:t>
            </a:r>
            <a:r>
              <a:rPr lang="en-US" sz="3600" dirty="0" err="1"/>
              <a:t>Inmon</a:t>
            </a:r>
            <a:r>
              <a:rPr lang="en-US" sz="3600" dirty="0"/>
              <a:t> and Kimball</a:t>
            </a:r>
          </a:p>
          <a:p>
            <a:r>
              <a:rPr lang="en-PS" sz="3600" dirty="0"/>
              <a:t>ETL and ELT Concepts </a:t>
            </a:r>
          </a:p>
          <a:p>
            <a:r>
              <a:rPr lang="en-US" sz="3600" dirty="0"/>
              <a:t>S</a:t>
            </a:r>
            <a:r>
              <a:rPr lang="en-PS" sz="3600" dirty="0"/>
              <a:t>taging Area Concept </a:t>
            </a:r>
          </a:p>
          <a:p>
            <a:r>
              <a:rPr lang="en-PS" sz="3600" dirty="0"/>
              <a:t>Data lake and Data warehouse Differ</a:t>
            </a:r>
            <a:r>
              <a:rPr lang="en-US" sz="3600" dirty="0"/>
              <a:t>e</a:t>
            </a:r>
            <a:r>
              <a:rPr lang="en-PS" sz="3600" dirty="0"/>
              <a:t>nces</a:t>
            </a:r>
          </a:p>
          <a:p>
            <a:r>
              <a:rPr lang="en-PS" sz="3600" dirty="0"/>
              <a:t>Data Warehousing </a:t>
            </a:r>
            <a:r>
              <a:rPr lang="en-US" sz="3600" dirty="0"/>
              <a:t>Types</a:t>
            </a:r>
            <a:r>
              <a:rPr lang="en-PS" sz="3600" dirty="0"/>
              <a:t> </a:t>
            </a:r>
            <a:endParaRPr lang="en-US" sz="3600" dirty="0"/>
          </a:p>
          <a:p>
            <a:r>
              <a:rPr lang="en-PS" sz="3600" dirty="0"/>
              <a:t>OLAP vs OLTAP</a:t>
            </a:r>
          </a:p>
          <a:p>
            <a:endParaRPr lang="en-PS" dirty="0"/>
          </a:p>
          <a:p>
            <a:pPr marL="0" indent="0">
              <a:buNone/>
            </a:pPr>
            <a:endParaRPr lang="en-PS" dirty="0"/>
          </a:p>
        </p:txBody>
      </p:sp>
    </p:spTree>
    <p:extLst>
      <p:ext uri="{BB962C8B-B14F-4D97-AF65-F5344CB8AC3E}">
        <p14:creationId xmlns:p14="http://schemas.microsoft.com/office/powerpoint/2010/main" val="3296912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B7979-99C2-1260-F7B4-E5976B61E541}"/>
              </a:ext>
            </a:extLst>
          </p:cNvPr>
          <p:cNvSpPr>
            <a:spLocks noGrp="1"/>
          </p:cNvSpPr>
          <p:nvPr>
            <p:ph type="title"/>
          </p:nvPr>
        </p:nvSpPr>
        <p:spPr/>
        <p:txBody>
          <a:bodyPr>
            <a:normAutofit/>
          </a:bodyPr>
          <a:lstStyle/>
          <a:p>
            <a:r>
              <a:rPr lang="en-PS" b="1" dirty="0">
                <a:latin typeface="Franklin Gothic Medium" panose="020B0603020102020204" pitchFamily="34" charset="0"/>
              </a:rPr>
              <a:t>Introduction </a:t>
            </a:r>
          </a:p>
        </p:txBody>
      </p:sp>
      <p:pic>
        <p:nvPicPr>
          <p:cNvPr id="1028" name="Picture 4">
            <a:extLst>
              <a:ext uri="{FF2B5EF4-FFF2-40B4-BE49-F238E27FC236}">
                <a16:creationId xmlns:a16="http://schemas.microsoft.com/office/drawing/2014/main" id="{DBDBC18B-F153-5BC5-1860-8F24F9B736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7307" y="1592564"/>
            <a:ext cx="8776065" cy="4298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455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E829-B719-0434-7030-C45B711169BA}"/>
              </a:ext>
            </a:extLst>
          </p:cNvPr>
          <p:cNvSpPr>
            <a:spLocks noGrp="1"/>
          </p:cNvSpPr>
          <p:nvPr>
            <p:ph type="title"/>
          </p:nvPr>
        </p:nvSpPr>
        <p:spPr/>
        <p:txBody>
          <a:bodyPr/>
          <a:lstStyle/>
          <a:p>
            <a:r>
              <a:rPr lang="en-PS" b="1" dirty="0">
                <a:latin typeface="Franklin Gothic Medium" panose="020B0603020102020204" pitchFamily="34" charset="0"/>
              </a:rPr>
              <a:t>Introduction</a:t>
            </a:r>
            <a:endParaRPr lang="en-PS" dirty="0"/>
          </a:p>
        </p:txBody>
      </p:sp>
      <p:sp>
        <p:nvSpPr>
          <p:cNvPr id="5" name="TextBox 4">
            <a:extLst>
              <a:ext uri="{FF2B5EF4-FFF2-40B4-BE49-F238E27FC236}">
                <a16:creationId xmlns:a16="http://schemas.microsoft.com/office/drawing/2014/main" id="{4FF4C07F-2A50-70EE-878C-CF27EF81C520}"/>
              </a:ext>
            </a:extLst>
          </p:cNvPr>
          <p:cNvSpPr txBox="1"/>
          <p:nvPr/>
        </p:nvSpPr>
        <p:spPr>
          <a:xfrm>
            <a:off x="838200" y="1690688"/>
            <a:ext cx="10921678" cy="1446550"/>
          </a:xfrm>
          <a:prstGeom prst="rect">
            <a:avLst/>
          </a:prstGeom>
          <a:noFill/>
        </p:spPr>
        <p:txBody>
          <a:bodyPr wrap="square">
            <a:spAutoFit/>
          </a:bodyPr>
          <a:lstStyle/>
          <a:p>
            <a:r>
              <a:rPr lang="en-PS" sz="2800" b="1" dirty="0">
                <a:solidFill>
                  <a:schemeClr val="accent1">
                    <a:lumMod val="75000"/>
                  </a:schemeClr>
                </a:solidFill>
              </a:rPr>
              <a:t>Data Warehousing </a:t>
            </a:r>
          </a:p>
          <a:p>
            <a:endParaRPr lang="en-PS" sz="2400" b="1" dirty="0"/>
          </a:p>
          <a:p>
            <a:r>
              <a:rPr lang="en-PS" dirty="0"/>
              <a:t>is a centralized repository that stores, manages, and consolidates data from various sources within an organization. It is designed to support business intelligence (BI) activities, reporting, and data analysis.</a:t>
            </a:r>
          </a:p>
        </p:txBody>
      </p:sp>
      <p:pic>
        <p:nvPicPr>
          <p:cNvPr id="3076" name="Picture 4" descr="Data center, data storage, data warehouse, database, server icon - Download  on Iconfinder">
            <a:extLst>
              <a:ext uri="{FF2B5EF4-FFF2-40B4-BE49-F238E27FC236}">
                <a16:creationId xmlns:a16="http://schemas.microsoft.com/office/drawing/2014/main" id="{0A66DFE2-54ED-F9CF-C8C5-0F4EABB094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8268" y="4089580"/>
            <a:ext cx="2155463" cy="2155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571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8415C-1B5F-099E-C33D-38D3EE2A6979}"/>
              </a:ext>
            </a:extLst>
          </p:cNvPr>
          <p:cNvSpPr>
            <a:spLocks noGrp="1"/>
          </p:cNvSpPr>
          <p:nvPr>
            <p:ph type="title"/>
          </p:nvPr>
        </p:nvSpPr>
        <p:spPr/>
        <p:txBody>
          <a:bodyPr/>
          <a:lstStyle/>
          <a:p>
            <a:r>
              <a:rPr lang="en-US" b="1" i="0" dirty="0">
                <a:effectLst/>
                <a:latin typeface="Söhne"/>
              </a:rPr>
              <a:t>Historical Perspective - </a:t>
            </a:r>
            <a:r>
              <a:rPr lang="en-US" b="1" i="0" dirty="0" err="1">
                <a:effectLst/>
                <a:latin typeface="Söhne"/>
              </a:rPr>
              <a:t>Inmon</a:t>
            </a:r>
            <a:r>
              <a:rPr lang="en-US" b="1" i="0" dirty="0">
                <a:effectLst/>
                <a:latin typeface="Söhne"/>
              </a:rPr>
              <a:t> and Kimball</a:t>
            </a:r>
            <a:endParaRPr lang="en-PS" dirty="0"/>
          </a:p>
        </p:txBody>
      </p:sp>
      <p:sp>
        <p:nvSpPr>
          <p:cNvPr id="5" name="TextBox 4">
            <a:extLst>
              <a:ext uri="{FF2B5EF4-FFF2-40B4-BE49-F238E27FC236}">
                <a16:creationId xmlns:a16="http://schemas.microsoft.com/office/drawing/2014/main" id="{68C46F72-CA93-C99E-F825-4CE7167169C0}"/>
              </a:ext>
            </a:extLst>
          </p:cNvPr>
          <p:cNvSpPr txBox="1"/>
          <p:nvPr/>
        </p:nvSpPr>
        <p:spPr>
          <a:xfrm>
            <a:off x="838200" y="1690688"/>
            <a:ext cx="10515600" cy="4524315"/>
          </a:xfrm>
          <a:prstGeom prst="rect">
            <a:avLst/>
          </a:prstGeom>
          <a:noFill/>
        </p:spPr>
        <p:txBody>
          <a:bodyPr wrap="square">
            <a:spAutoFit/>
          </a:bodyPr>
          <a:lstStyle/>
          <a:p>
            <a:r>
              <a:rPr lang="en-PS" b="1" dirty="0">
                <a:solidFill>
                  <a:schemeClr val="accent1">
                    <a:lumMod val="75000"/>
                  </a:schemeClr>
                </a:solidFill>
              </a:rPr>
              <a:t>1. Bill Inmon - The Father of Data Warehousing</a:t>
            </a:r>
          </a:p>
          <a:p>
            <a:endParaRPr lang="en-PS" dirty="0"/>
          </a:p>
          <a:p>
            <a:r>
              <a:rPr lang="en-PS" dirty="0"/>
              <a:t>Bill Inmon, often referred to as "The Father of Data Warehousing," played a pivotal role in shaping the concept and practices of data warehousing.</a:t>
            </a:r>
          </a:p>
          <a:p>
            <a:endParaRPr lang="en-PS" dirty="0"/>
          </a:p>
          <a:p>
            <a:r>
              <a:rPr lang="en-PS" dirty="0"/>
              <a:t>In the 1980s, Inmon introduced the idea of the "Corporate Information Factory" (CIF), which laid the foundation for modern data warehousing. The CIF concept emphasized the centralization of data into a single, integrated repository.</a:t>
            </a:r>
          </a:p>
          <a:p>
            <a:endParaRPr lang="en-PS" dirty="0"/>
          </a:p>
          <a:p>
            <a:r>
              <a:rPr lang="en-PS" dirty="0"/>
              <a:t>Inmon's approach focused on creating a normalized data model, known as the "Enterprise Data Warehouse (EDW)." This EDW served as the core repository for all data within an organization, ensuring data consistency and accuracy.</a:t>
            </a:r>
          </a:p>
          <a:p>
            <a:endParaRPr lang="en-PS" dirty="0"/>
          </a:p>
          <a:p>
            <a:r>
              <a:rPr lang="en-PS" dirty="0"/>
              <a:t>His methodology advocated for data integration through Extract, Transform, Load (ETL) processes, making it possible to gather data from disparate sources and load it into the EDW.</a:t>
            </a:r>
          </a:p>
          <a:p>
            <a:endParaRPr lang="en-PS" dirty="0"/>
          </a:p>
        </p:txBody>
      </p:sp>
    </p:spTree>
    <p:extLst>
      <p:ext uri="{BB962C8B-B14F-4D97-AF65-F5344CB8AC3E}">
        <p14:creationId xmlns:p14="http://schemas.microsoft.com/office/powerpoint/2010/main" val="2862664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A32D1B-3AA3-8198-9E88-68CC6F3CB55C}"/>
              </a:ext>
            </a:extLst>
          </p:cNvPr>
          <p:cNvSpPr txBox="1"/>
          <p:nvPr/>
        </p:nvSpPr>
        <p:spPr>
          <a:xfrm>
            <a:off x="838200" y="1690688"/>
            <a:ext cx="11037425" cy="4524315"/>
          </a:xfrm>
          <a:prstGeom prst="rect">
            <a:avLst/>
          </a:prstGeom>
          <a:noFill/>
        </p:spPr>
        <p:txBody>
          <a:bodyPr wrap="square">
            <a:spAutoFit/>
          </a:bodyPr>
          <a:lstStyle/>
          <a:p>
            <a:r>
              <a:rPr lang="en-PS" b="1" dirty="0">
                <a:solidFill>
                  <a:schemeClr val="accent1">
                    <a:lumMod val="75000"/>
                  </a:schemeClr>
                </a:solidFill>
              </a:rPr>
              <a:t>2. Ralph Kimball - The Dimensional Modeling Pioneer</a:t>
            </a:r>
          </a:p>
          <a:p>
            <a:endParaRPr lang="en-PS" dirty="0"/>
          </a:p>
          <a:p>
            <a:r>
              <a:rPr lang="en-PS" dirty="0"/>
              <a:t>Ralph Kimball is renowned for his pioneering work in dimensional modeling, which is a key component of data warehousing.</a:t>
            </a:r>
          </a:p>
          <a:p>
            <a:endParaRPr lang="en-PS" dirty="0"/>
          </a:p>
          <a:p>
            <a:endParaRPr lang="en-PS" dirty="0"/>
          </a:p>
          <a:p>
            <a:r>
              <a:rPr lang="en-PS" dirty="0"/>
              <a:t>In the 1990s, Kimball introduced the concept of the "Data Warehouse Bus Architecture." Unlike Inmon's approach, Kimball's methodology focused on creating data marts, which are smaller, subject-specific data warehouses derived from the central data warehouse.</a:t>
            </a:r>
          </a:p>
          <a:p>
            <a:endParaRPr lang="en-PS" dirty="0"/>
          </a:p>
          <a:p>
            <a:r>
              <a:rPr lang="en-PS" dirty="0"/>
              <a:t>Kimball's dimensional modeling emphasized the use of fact tables and dimension tables, which simplified data retrieval and analysis. This approach made it easier for business users to understand and navigate data.</a:t>
            </a:r>
          </a:p>
          <a:p>
            <a:endParaRPr lang="en-PS" dirty="0"/>
          </a:p>
          <a:p>
            <a:r>
              <a:rPr lang="en-PS" dirty="0"/>
              <a:t>His methodology promoted the use of star schemas and snowflake schemas, which are optimized for query performance and user-friendliness.</a:t>
            </a:r>
          </a:p>
          <a:p>
            <a:endParaRPr lang="en-PS" dirty="0"/>
          </a:p>
        </p:txBody>
      </p:sp>
      <p:sp>
        <p:nvSpPr>
          <p:cNvPr id="6" name="Title 1">
            <a:extLst>
              <a:ext uri="{FF2B5EF4-FFF2-40B4-BE49-F238E27FC236}">
                <a16:creationId xmlns:a16="http://schemas.microsoft.com/office/drawing/2014/main" id="{75FA44A1-468C-9085-DC54-816CE2835C0A}"/>
              </a:ext>
            </a:extLst>
          </p:cNvPr>
          <p:cNvSpPr>
            <a:spLocks noGrp="1"/>
          </p:cNvSpPr>
          <p:nvPr>
            <p:ph type="title"/>
          </p:nvPr>
        </p:nvSpPr>
        <p:spPr>
          <a:xfrm>
            <a:off x="838200" y="365125"/>
            <a:ext cx="10515600" cy="1325563"/>
          </a:xfrm>
        </p:spPr>
        <p:txBody>
          <a:bodyPr/>
          <a:lstStyle/>
          <a:p>
            <a:r>
              <a:rPr lang="en-US" b="1" i="0" dirty="0">
                <a:effectLst/>
                <a:latin typeface="Söhne"/>
              </a:rPr>
              <a:t>Historical Perspective - </a:t>
            </a:r>
            <a:r>
              <a:rPr lang="en-US" b="1" i="0" dirty="0" err="1">
                <a:effectLst/>
                <a:latin typeface="Söhne"/>
              </a:rPr>
              <a:t>Inmon</a:t>
            </a:r>
            <a:r>
              <a:rPr lang="en-US" b="1" i="0" dirty="0">
                <a:effectLst/>
                <a:latin typeface="Söhne"/>
              </a:rPr>
              <a:t> and Kimball</a:t>
            </a:r>
            <a:endParaRPr lang="en-PS" dirty="0"/>
          </a:p>
        </p:txBody>
      </p:sp>
    </p:spTree>
    <p:extLst>
      <p:ext uri="{BB962C8B-B14F-4D97-AF65-F5344CB8AC3E}">
        <p14:creationId xmlns:p14="http://schemas.microsoft.com/office/powerpoint/2010/main" val="1844530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D45E22-3262-A73F-0D57-F14F06C53553}"/>
              </a:ext>
            </a:extLst>
          </p:cNvPr>
          <p:cNvSpPr txBox="1"/>
          <p:nvPr/>
        </p:nvSpPr>
        <p:spPr>
          <a:xfrm>
            <a:off x="838200" y="1841159"/>
            <a:ext cx="11204293" cy="4247317"/>
          </a:xfrm>
          <a:prstGeom prst="rect">
            <a:avLst/>
          </a:prstGeom>
          <a:noFill/>
        </p:spPr>
        <p:txBody>
          <a:bodyPr wrap="square">
            <a:spAutoFit/>
          </a:bodyPr>
          <a:lstStyle/>
          <a:p>
            <a:endParaRPr lang="en-PS" dirty="0"/>
          </a:p>
          <a:p>
            <a:r>
              <a:rPr lang="en-PS" b="1" dirty="0">
                <a:solidFill>
                  <a:schemeClr val="accent1">
                    <a:lumMod val="75000"/>
                  </a:schemeClr>
                </a:solidFill>
              </a:rPr>
              <a:t>3. Contributions and Ongoing Debate</a:t>
            </a:r>
          </a:p>
          <a:p>
            <a:endParaRPr lang="en-PS" dirty="0"/>
          </a:p>
          <a:p>
            <a:endParaRPr lang="en-PS" dirty="0"/>
          </a:p>
          <a:p>
            <a:r>
              <a:rPr lang="en-PS" dirty="0"/>
              <a:t>Both Inmon and Kimball made significant contributions to the field of data warehousing, but their approaches differed in key aspects. Inmon favored a highly normalized approach, while Kimball promoted a dimensional, denormalized approach.</a:t>
            </a:r>
          </a:p>
          <a:p>
            <a:endParaRPr lang="en-PS" dirty="0"/>
          </a:p>
          <a:p>
            <a:r>
              <a:rPr lang="en-PS" dirty="0"/>
              <a:t>The debate between Inmon's and Kimball's methodologies, often referred to as the "Inmon vs. Kimball" debate, has been ongoing for years. It highlights the importance of choosing the right approach based on the specific needs and goals of an organization.</a:t>
            </a:r>
          </a:p>
          <a:p>
            <a:endParaRPr lang="en-PS" dirty="0"/>
          </a:p>
          <a:p>
            <a:r>
              <a:rPr lang="en-PS" dirty="0"/>
              <a:t>In practice, organizations may adopt elements from both methodologies, combining centralized data warehousing with dimensional modeling to create a customized solution that suits their unique requirements.</a:t>
            </a:r>
          </a:p>
          <a:p>
            <a:endParaRPr lang="en-PS" dirty="0"/>
          </a:p>
        </p:txBody>
      </p:sp>
      <p:sp>
        <p:nvSpPr>
          <p:cNvPr id="6" name="Title 1">
            <a:extLst>
              <a:ext uri="{FF2B5EF4-FFF2-40B4-BE49-F238E27FC236}">
                <a16:creationId xmlns:a16="http://schemas.microsoft.com/office/drawing/2014/main" id="{172D1403-C5E0-907E-DE33-24F05E718101}"/>
              </a:ext>
            </a:extLst>
          </p:cNvPr>
          <p:cNvSpPr>
            <a:spLocks noGrp="1"/>
          </p:cNvSpPr>
          <p:nvPr>
            <p:ph type="title"/>
          </p:nvPr>
        </p:nvSpPr>
        <p:spPr>
          <a:xfrm>
            <a:off x="838200" y="365125"/>
            <a:ext cx="10515600" cy="1325563"/>
          </a:xfrm>
        </p:spPr>
        <p:txBody>
          <a:bodyPr/>
          <a:lstStyle/>
          <a:p>
            <a:r>
              <a:rPr lang="en-US" b="1" i="0" dirty="0">
                <a:effectLst/>
                <a:latin typeface="Söhne"/>
              </a:rPr>
              <a:t>Historical Perspective - </a:t>
            </a:r>
            <a:r>
              <a:rPr lang="en-US" b="1" i="0" dirty="0" err="1">
                <a:effectLst/>
                <a:latin typeface="Söhne"/>
              </a:rPr>
              <a:t>Inmon</a:t>
            </a:r>
            <a:r>
              <a:rPr lang="en-US" b="1" i="0" dirty="0">
                <a:effectLst/>
                <a:latin typeface="Söhne"/>
              </a:rPr>
              <a:t> and Kimball</a:t>
            </a:r>
            <a:endParaRPr lang="en-PS" dirty="0"/>
          </a:p>
        </p:txBody>
      </p:sp>
    </p:spTree>
    <p:extLst>
      <p:ext uri="{BB962C8B-B14F-4D97-AF65-F5344CB8AC3E}">
        <p14:creationId xmlns:p14="http://schemas.microsoft.com/office/powerpoint/2010/main" val="4208481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DFD1E7C-AB7C-3197-E827-1AD7CDC5C122}"/>
              </a:ext>
            </a:extLst>
          </p:cNvPr>
          <p:cNvSpPr txBox="1"/>
          <p:nvPr/>
        </p:nvSpPr>
        <p:spPr>
          <a:xfrm>
            <a:off x="838200" y="1539433"/>
            <a:ext cx="10938077" cy="4678204"/>
          </a:xfrm>
          <a:prstGeom prst="rect">
            <a:avLst/>
          </a:prstGeom>
          <a:noFill/>
        </p:spPr>
        <p:txBody>
          <a:bodyPr wrap="square">
            <a:spAutoFit/>
          </a:bodyPr>
          <a:lstStyle/>
          <a:p>
            <a:r>
              <a:rPr lang="en-PS" sz="2800" b="1" dirty="0">
                <a:solidFill>
                  <a:schemeClr val="accent1">
                    <a:lumMod val="75000"/>
                  </a:schemeClr>
                </a:solidFill>
              </a:rPr>
              <a:t>Challenges of Traditional Data Management</a:t>
            </a:r>
          </a:p>
          <a:p>
            <a:pPr marL="285750" indent="-285750">
              <a:buFont typeface="Wingdings" pitchFamily="2" charset="2"/>
              <a:buChar char="ü"/>
            </a:pPr>
            <a:endParaRPr lang="en-PS" dirty="0"/>
          </a:p>
          <a:p>
            <a:pPr marL="285750" indent="-285750">
              <a:buFont typeface="Wingdings" pitchFamily="2" charset="2"/>
              <a:buChar char="v"/>
            </a:pPr>
            <a:r>
              <a:rPr lang="en-PS" b="1" dirty="0"/>
              <a:t>Data Fragmentation</a:t>
            </a:r>
            <a:r>
              <a:rPr lang="en-PS" dirty="0"/>
              <a:t>: In traditional setups, data is often scattered across various systems, departments, and formats, creating data silos. </a:t>
            </a:r>
          </a:p>
          <a:p>
            <a:pPr marL="285750" indent="-285750">
              <a:buFont typeface="Wingdings" pitchFamily="2" charset="2"/>
              <a:buChar char="v"/>
            </a:pPr>
            <a:endParaRPr lang="en-PS" dirty="0"/>
          </a:p>
          <a:p>
            <a:pPr marL="285750" indent="-285750">
              <a:buFont typeface="Wingdings" pitchFamily="2" charset="2"/>
              <a:buChar char="v"/>
            </a:pPr>
            <a:r>
              <a:rPr lang="en-PS" b="1" dirty="0"/>
              <a:t>Limited Historical Data</a:t>
            </a:r>
            <a:r>
              <a:rPr lang="en-PS" dirty="0"/>
              <a:t>: Operational databases, known as OLTP systems, are designed for transaction processing. They typically store a limited history of data, making it challenging to perform historical trend analysis and long-term forecasting.</a:t>
            </a:r>
          </a:p>
          <a:p>
            <a:pPr marL="285750" indent="-285750">
              <a:buFont typeface="Wingdings" pitchFamily="2" charset="2"/>
              <a:buChar char="v"/>
            </a:pPr>
            <a:endParaRPr lang="en-PS" dirty="0"/>
          </a:p>
          <a:p>
            <a:pPr marL="285750" indent="-285750">
              <a:buFont typeface="Wingdings" pitchFamily="2" charset="2"/>
              <a:buChar char="v"/>
            </a:pPr>
            <a:r>
              <a:rPr lang="en-PS" b="1" dirty="0"/>
              <a:t>Inefficient Reporting</a:t>
            </a:r>
            <a:r>
              <a:rPr lang="en-PS" dirty="0"/>
              <a:t>: Generating meaningful reports from multiple, disconnected data sources is time-consuming and error-prone. </a:t>
            </a:r>
          </a:p>
          <a:p>
            <a:pPr marL="285750" indent="-285750">
              <a:buFont typeface="Wingdings" pitchFamily="2" charset="2"/>
              <a:buChar char="v"/>
            </a:pPr>
            <a:r>
              <a:rPr lang="en-PS" b="1" dirty="0"/>
              <a:t>Resource-Intensive Queries: </a:t>
            </a:r>
            <a:r>
              <a:rPr lang="en-PS" dirty="0"/>
              <a:t>Analyzing data from operational databases can overload these systems, leading to slower performance and potentially disrupting day-to-day operations.</a:t>
            </a:r>
          </a:p>
          <a:p>
            <a:pPr marL="285750" indent="-285750">
              <a:buFont typeface="Wingdings" pitchFamily="2" charset="2"/>
              <a:buChar char="v"/>
            </a:pPr>
            <a:endParaRPr lang="en-PS" dirty="0"/>
          </a:p>
          <a:p>
            <a:pPr marL="285750" indent="-285750">
              <a:buFont typeface="Wingdings" pitchFamily="2" charset="2"/>
              <a:buChar char="v"/>
            </a:pPr>
            <a:r>
              <a:rPr lang="en-PS" b="1" dirty="0"/>
              <a:t>Lack of Integration: </a:t>
            </a:r>
            <a:r>
              <a:rPr lang="en-PS" dirty="0"/>
              <a:t>Integrating data from different sources and formats is complex and often requires custom scripts or manual efforts.</a:t>
            </a:r>
          </a:p>
        </p:txBody>
      </p:sp>
      <p:sp>
        <p:nvSpPr>
          <p:cNvPr id="8" name="Title 1">
            <a:extLst>
              <a:ext uri="{FF2B5EF4-FFF2-40B4-BE49-F238E27FC236}">
                <a16:creationId xmlns:a16="http://schemas.microsoft.com/office/drawing/2014/main" id="{D7C5C1F4-0AF7-55D9-C008-6607AA1B4D86}"/>
              </a:ext>
            </a:extLst>
          </p:cNvPr>
          <p:cNvSpPr>
            <a:spLocks noGrp="1"/>
          </p:cNvSpPr>
          <p:nvPr>
            <p:ph type="title"/>
          </p:nvPr>
        </p:nvSpPr>
        <p:spPr>
          <a:xfrm>
            <a:off x="838200" y="365125"/>
            <a:ext cx="10515600" cy="1325563"/>
          </a:xfrm>
        </p:spPr>
        <p:txBody>
          <a:bodyPr/>
          <a:lstStyle/>
          <a:p>
            <a:r>
              <a:rPr lang="en-PS" b="1" dirty="0">
                <a:latin typeface="Franklin Gothic Medium" panose="020B0603020102020204" pitchFamily="34" charset="0"/>
              </a:rPr>
              <a:t>Introduction</a:t>
            </a:r>
            <a:endParaRPr lang="en-PS" dirty="0"/>
          </a:p>
        </p:txBody>
      </p:sp>
    </p:spTree>
    <p:extLst>
      <p:ext uri="{BB962C8B-B14F-4D97-AF65-F5344CB8AC3E}">
        <p14:creationId xmlns:p14="http://schemas.microsoft.com/office/powerpoint/2010/main" val="1417394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3B281-930A-8F39-22A4-2C948C241EDB}"/>
              </a:ext>
            </a:extLst>
          </p:cNvPr>
          <p:cNvSpPr>
            <a:spLocks noGrp="1"/>
          </p:cNvSpPr>
          <p:nvPr>
            <p:ph type="title"/>
          </p:nvPr>
        </p:nvSpPr>
        <p:spPr/>
        <p:txBody>
          <a:bodyPr/>
          <a:lstStyle/>
          <a:p>
            <a:r>
              <a:rPr lang="en-US" b="1" dirty="0">
                <a:latin typeface="Franklin Gothic Medium" panose="020B0603020102020204" pitchFamily="34" charset="0"/>
              </a:rPr>
              <a:t>I</a:t>
            </a:r>
            <a:r>
              <a:rPr lang="en-PS" b="1" dirty="0">
                <a:latin typeface="Franklin Gothic Medium" panose="020B0603020102020204" pitchFamily="34" charset="0"/>
              </a:rPr>
              <a:t>ntroduction </a:t>
            </a:r>
            <a:endParaRPr lang="en-PS" dirty="0"/>
          </a:p>
        </p:txBody>
      </p:sp>
      <p:sp>
        <p:nvSpPr>
          <p:cNvPr id="8" name="TextBox 7">
            <a:extLst>
              <a:ext uri="{FF2B5EF4-FFF2-40B4-BE49-F238E27FC236}">
                <a16:creationId xmlns:a16="http://schemas.microsoft.com/office/drawing/2014/main" id="{6625FFCF-1468-976E-1FDF-675ACAA87F09}"/>
              </a:ext>
            </a:extLst>
          </p:cNvPr>
          <p:cNvSpPr txBox="1"/>
          <p:nvPr/>
        </p:nvSpPr>
        <p:spPr>
          <a:xfrm>
            <a:off x="838200" y="1690688"/>
            <a:ext cx="10921677" cy="2739211"/>
          </a:xfrm>
          <a:prstGeom prst="rect">
            <a:avLst/>
          </a:prstGeom>
          <a:noFill/>
        </p:spPr>
        <p:txBody>
          <a:bodyPr wrap="square">
            <a:spAutoFit/>
          </a:bodyPr>
          <a:lstStyle/>
          <a:p>
            <a:r>
              <a:rPr lang="en-PS" sz="2800" b="1" dirty="0">
                <a:solidFill>
                  <a:schemeClr val="accent1">
                    <a:lumMod val="75000"/>
                  </a:schemeClr>
                </a:solidFill>
              </a:rPr>
              <a:t>Importance of Data Warehousing</a:t>
            </a:r>
          </a:p>
          <a:p>
            <a:pPr marL="285750" indent="-285750">
              <a:buFont typeface="Wingdings" pitchFamily="2" charset="2"/>
              <a:buChar char="v"/>
            </a:pPr>
            <a:endParaRPr lang="en-PS" dirty="0"/>
          </a:p>
          <a:p>
            <a:pPr marL="285750" indent="-285750">
              <a:buFont typeface="Wingdings" pitchFamily="2" charset="2"/>
              <a:buChar char="v"/>
            </a:pPr>
            <a:r>
              <a:rPr lang="en-PS" b="1" dirty="0"/>
              <a:t>Data Integration</a:t>
            </a:r>
            <a:r>
              <a:rPr lang="en-PS" dirty="0"/>
              <a:t>: Unifies diverse data sources, revealing insights across departments.</a:t>
            </a:r>
          </a:p>
          <a:p>
            <a:pPr marL="285750" indent="-285750">
              <a:buFont typeface="Wingdings" pitchFamily="2" charset="2"/>
              <a:buChar char="v"/>
            </a:pPr>
            <a:endParaRPr lang="en-PS" dirty="0"/>
          </a:p>
          <a:p>
            <a:pPr marL="285750" indent="-285750">
              <a:buFont typeface="Wingdings" pitchFamily="2" charset="2"/>
              <a:buChar char="v"/>
            </a:pPr>
            <a:r>
              <a:rPr lang="en-PS" b="1" dirty="0"/>
              <a:t>Historical Analysis</a:t>
            </a:r>
            <a:r>
              <a:rPr lang="en-PS" dirty="0"/>
              <a:t>: Provides a long-term view for trend analysis and informed decision-making.</a:t>
            </a:r>
          </a:p>
          <a:p>
            <a:pPr marL="285750" indent="-285750">
              <a:buFont typeface="Wingdings" pitchFamily="2" charset="2"/>
              <a:buChar char="v"/>
            </a:pPr>
            <a:endParaRPr lang="en-PS" dirty="0"/>
          </a:p>
          <a:p>
            <a:pPr marL="285750" indent="-285750">
              <a:buFont typeface="Wingdings" pitchFamily="2" charset="2"/>
              <a:buChar char="v"/>
            </a:pPr>
            <a:r>
              <a:rPr lang="en-PS" b="1" dirty="0"/>
              <a:t>Enhanced BI</a:t>
            </a:r>
            <a:r>
              <a:rPr lang="en-PS" dirty="0"/>
              <a:t>: Empowers data-driven decisions through robust reporting and BI tools.</a:t>
            </a:r>
          </a:p>
          <a:p>
            <a:pPr marL="285750" indent="-285750">
              <a:buFont typeface="Wingdings" pitchFamily="2" charset="2"/>
              <a:buChar char="v"/>
            </a:pPr>
            <a:endParaRPr lang="en-PS" dirty="0"/>
          </a:p>
          <a:p>
            <a:pPr marL="285750" indent="-285750">
              <a:buFont typeface="Wingdings" pitchFamily="2" charset="2"/>
              <a:buChar char="v"/>
            </a:pPr>
            <a:r>
              <a:rPr lang="en-PS" b="1" dirty="0"/>
              <a:t>Efficient Queries</a:t>
            </a:r>
            <a:r>
              <a:rPr lang="en-PS" dirty="0"/>
              <a:t>: Optimized for quick, complex data analysis without affecting transactional systems.</a:t>
            </a:r>
          </a:p>
        </p:txBody>
      </p:sp>
      <p:pic>
        <p:nvPicPr>
          <p:cNvPr id="9" name="Picture 4" descr="Data center, data storage, data warehouse, database, server icon - Download  on Iconfinder">
            <a:extLst>
              <a:ext uri="{FF2B5EF4-FFF2-40B4-BE49-F238E27FC236}">
                <a16:creationId xmlns:a16="http://schemas.microsoft.com/office/drawing/2014/main" id="{B24A4E6C-60DD-8EE2-6C4B-4EFD5BC824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4436" y="4860703"/>
            <a:ext cx="1792790" cy="160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1183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EED98D-8558-95EF-C09B-7937E136CBD9}"/>
              </a:ext>
            </a:extLst>
          </p:cNvPr>
          <p:cNvSpPr txBox="1"/>
          <p:nvPr/>
        </p:nvSpPr>
        <p:spPr>
          <a:xfrm>
            <a:off x="838200" y="1690688"/>
            <a:ext cx="11049000" cy="3570208"/>
          </a:xfrm>
          <a:prstGeom prst="rect">
            <a:avLst/>
          </a:prstGeom>
          <a:noFill/>
        </p:spPr>
        <p:txBody>
          <a:bodyPr wrap="square">
            <a:spAutoFit/>
          </a:bodyPr>
          <a:lstStyle/>
          <a:p>
            <a:pPr marL="285750" indent="-285750">
              <a:buFont typeface="Wingdings" pitchFamily="2" charset="2"/>
              <a:buChar char="Ø"/>
            </a:pPr>
            <a:endParaRPr lang="en-PS" b="1" dirty="0"/>
          </a:p>
          <a:p>
            <a:r>
              <a:rPr lang="en-PS" sz="2800" b="1" dirty="0">
                <a:solidFill>
                  <a:schemeClr val="accent1">
                    <a:lumMod val="75000"/>
                  </a:schemeClr>
                </a:solidFill>
              </a:rPr>
              <a:t>Importance of Data Warehousing</a:t>
            </a:r>
            <a:endParaRPr lang="en-PS" sz="2800" b="1" dirty="0"/>
          </a:p>
          <a:p>
            <a:pPr marL="285750" indent="-285750">
              <a:buFont typeface="Wingdings" pitchFamily="2" charset="2"/>
              <a:buChar char="Ø"/>
            </a:pPr>
            <a:endParaRPr lang="en-PS" b="1" dirty="0"/>
          </a:p>
          <a:p>
            <a:pPr marL="285750" indent="-285750">
              <a:buFont typeface="Wingdings" pitchFamily="2" charset="2"/>
              <a:buChar char="v"/>
            </a:pPr>
            <a:r>
              <a:rPr lang="en-PS" b="1" dirty="0"/>
              <a:t>Competitive Edge: </a:t>
            </a:r>
            <a:r>
              <a:rPr lang="en-PS" dirty="0"/>
              <a:t>Enables agility, responsiveness, and innovation for a competitive advantage.</a:t>
            </a:r>
          </a:p>
          <a:p>
            <a:pPr marL="285750" indent="-285750">
              <a:buFont typeface="Wingdings" pitchFamily="2" charset="2"/>
              <a:buChar char="v"/>
            </a:pPr>
            <a:endParaRPr lang="en-PS" dirty="0"/>
          </a:p>
          <a:p>
            <a:pPr marL="285750" indent="-285750">
              <a:buFont typeface="Wingdings" pitchFamily="2" charset="2"/>
              <a:buChar char="v"/>
            </a:pPr>
            <a:r>
              <a:rPr lang="en-PS" b="1" dirty="0"/>
              <a:t>Compliance &amp; Governance: </a:t>
            </a:r>
            <a:r>
              <a:rPr lang="en-PS" dirty="0"/>
              <a:t>Ensures data accuracy, consistency, and security, crucial in regulated industries.</a:t>
            </a:r>
          </a:p>
          <a:p>
            <a:pPr marL="285750" indent="-285750">
              <a:buFont typeface="Wingdings" pitchFamily="2" charset="2"/>
              <a:buChar char="v"/>
            </a:pPr>
            <a:endParaRPr lang="en-PS" dirty="0"/>
          </a:p>
          <a:p>
            <a:pPr marL="285750" indent="-285750">
              <a:buFont typeface="Wingdings" pitchFamily="2" charset="2"/>
              <a:buChar char="v"/>
            </a:pPr>
            <a:r>
              <a:rPr lang="en-PS" b="1" dirty="0"/>
              <a:t>Scalability: </a:t>
            </a:r>
            <a:r>
              <a:rPr lang="en-PS" dirty="0"/>
              <a:t>Adapts to growing data needs, suitable for startups to large enterprises.</a:t>
            </a:r>
          </a:p>
          <a:p>
            <a:pPr marL="285750" indent="-285750">
              <a:buFont typeface="Wingdings" pitchFamily="2" charset="2"/>
              <a:buChar char="v"/>
            </a:pPr>
            <a:endParaRPr lang="en-PS" dirty="0"/>
          </a:p>
          <a:p>
            <a:pPr marL="285750" indent="-285750">
              <a:buFont typeface="Wingdings" pitchFamily="2" charset="2"/>
              <a:buChar char="v"/>
            </a:pPr>
            <a:r>
              <a:rPr lang="en-PS" b="1" dirty="0"/>
              <a:t>Cost Savings: </a:t>
            </a:r>
            <a:r>
              <a:rPr lang="en-PS" dirty="0"/>
              <a:t>Reduces storage costs, streamlines data management, and minimizes duplication.</a:t>
            </a:r>
          </a:p>
          <a:p>
            <a:pPr marL="285750" indent="-285750">
              <a:buFont typeface="Wingdings" pitchFamily="2" charset="2"/>
              <a:buChar char="v"/>
            </a:pPr>
            <a:endParaRPr lang="en-PS" dirty="0"/>
          </a:p>
          <a:p>
            <a:pPr marL="285750" indent="-285750">
              <a:buFont typeface="Wingdings" pitchFamily="2" charset="2"/>
              <a:buChar char="v"/>
            </a:pPr>
            <a:r>
              <a:rPr lang="en-PS" b="1" dirty="0"/>
              <a:t>Data-Driven Culture: </a:t>
            </a:r>
            <a:r>
              <a:rPr lang="en-PS" dirty="0"/>
              <a:t>Cultivates a culture of empirical decision-making, transforming business operations.</a:t>
            </a:r>
          </a:p>
        </p:txBody>
      </p:sp>
      <p:sp>
        <p:nvSpPr>
          <p:cNvPr id="5" name="Title 1">
            <a:extLst>
              <a:ext uri="{FF2B5EF4-FFF2-40B4-BE49-F238E27FC236}">
                <a16:creationId xmlns:a16="http://schemas.microsoft.com/office/drawing/2014/main" id="{EA6F89D5-099A-3C78-337A-0A1266926F8E}"/>
              </a:ext>
            </a:extLst>
          </p:cNvPr>
          <p:cNvSpPr>
            <a:spLocks noGrp="1"/>
          </p:cNvSpPr>
          <p:nvPr>
            <p:ph type="title"/>
          </p:nvPr>
        </p:nvSpPr>
        <p:spPr>
          <a:xfrm>
            <a:off x="838200" y="365125"/>
            <a:ext cx="10515600" cy="1325563"/>
          </a:xfrm>
        </p:spPr>
        <p:txBody>
          <a:bodyPr/>
          <a:lstStyle/>
          <a:p>
            <a:r>
              <a:rPr lang="en-US" b="1" dirty="0">
                <a:latin typeface="Franklin Gothic Medium" panose="020B0603020102020204" pitchFamily="34" charset="0"/>
              </a:rPr>
              <a:t>I</a:t>
            </a:r>
            <a:r>
              <a:rPr lang="en-PS" b="1" dirty="0">
                <a:latin typeface="Franklin Gothic Medium" panose="020B0603020102020204" pitchFamily="34" charset="0"/>
              </a:rPr>
              <a:t>ntroduction </a:t>
            </a:r>
            <a:endParaRPr lang="en-PS" dirty="0"/>
          </a:p>
        </p:txBody>
      </p:sp>
    </p:spTree>
    <p:extLst>
      <p:ext uri="{BB962C8B-B14F-4D97-AF65-F5344CB8AC3E}">
        <p14:creationId xmlns:p14="http://schemas.microsoft.com/office/powerpoint/2010/main" val="86575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778F22F-AE71-925A-B034-1305B7062E65}"/>
              </a:ext>
            </a:extLst>
          </p:cNvPr>
          <p:cNvSpPr>
            <a:spLocks noGrp="1"/>
          </p:cNvSpPr>
          <p:nvPr>
            <p:ph idx="1"/>
          </p:nvPr>
        </p:nvSpPr>
        <p:spPr>
          <a:xfrm>
            <a:off x="2793838" y="4244734"/>
            <a:ext cx="6604322" cy="1426861"/>
          </a:xfrm>
        </p:spPr>
        <p:txBody>
          <a:bodyPr>
            <a:normAutofit/>
          </a:bodyPr>
          <a:lstStyle/>
          <a:p>
            <a:r>
              <a:rPr lang="en-PS" sz="2400" b="1" dirty="0"/>
              <a:t>ELT and ETL Concpets </a:t>
            </a:r>
          </a:p>
          <a:p>
            <a:r>
              <a:rPr lang="en-US" sz="2400" b="1" dirty="0"/>
              <a:t>S</a:t>
            </a:r>
            <a:r>
              <a:rPr lang="en-PS" sz="2400" b="1" dirty="0"/>
              <a:t>taging Area</a:t>
            </a:r>
          </a:p>
          <a:p>
            <a:r>
              <a:rPr lang="en-PS" sz="2400" b="1" dirty="0"/>
              <a:t>Data lake and Data warehouse Differ</a:t>
            </a:r>
            <a:r>
              <a:rPr lang="en-US" sz="2400" b="1" dirty="0"/>
              <a:t>e</a:t>
            </a:r>
            <a:r>
              <a:rPr lang="en-PS" sz="2400" b="1" dirty="0"/>
              <a:t>nces </a:t>
            </a:r>
          </a:p>
        </p:txBody>
      </p:sp>
      <p:pic>
        <p:nvPicPr>
          <p:cNvPr id="4098" name="Picture 2" descr="SchoolTool | Data &amp; Analytics with Dashboards, Reports, and Exports">
            <a:extLst>
              <a:ext uri="{FF2B5EF4-FFF2-40B4-BE49-F238E27FC236}">
                <a16:creationId xmlns:a16="http://schemas.microsoft.com/office/drawing/2014/main" id="{FBB5CA9E-A411-EF97-A0D3-4F5355C046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0258" y="1283190"/>
            <a:ext cx="8831483" cy="2428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189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F5FB-5C0C-7054-9FF4-DC9DE58F00CD}"/>
              </a:ext>
            </a:extLst>
          </p:cNvPr>
          <p:cNvSpPr>
            <a:spLocks noGrp="1"/>
          </p:cNvSpPr>
          <p:nvPr>
            <p:ph type="title"/>
          </p:nvPr>
        </p:nvSpPr>
        <p:spPr/>
        <p:txBody>
          <a:bodyPr/>
          <a:lstStyle/>
          <a:p>
            <a:r>
              <a:rPr lang="en-PS" dirty="0"/>
              <a:t>ETL and ELT</a:t>
            </a:r>
            <a:br>
              <a:rPr lang="en-PS" dirty="0"/>
            </a:br>
            <a:r>
              <a:rPr lang="en-PS" b="1" dirty="0">
                <a:latin typeface="Franklin Gothic Medium" panose="020B0603020102020204" pitchFamily="34" charset="0"/>
              </a:rPr>
              <a:t>Concepts </a:t>
            </a:r>
          </a:p>
        </p:txBody>
      </p:sp>
      <p:sp>
        <p:nvSpPr>
          <p:cNvPr id="5" name="TextBox 4">
            <a:extLst>
              <a:ext uri="{FF2B5EF4-FFF2-40B4-BE49-F238E27FC236}">
                <a16:creationId xmlns:a16="http://schemas.microsoft.com/office/drawing/2014/main" id="{422CD283-D4B7-F8D1-F76E-612E641E21D9}"/>
              </a:ext>
            </a:extLst>
          </p:cNvPr>
          <p:cNvSpPr txBox="1"/>
          <p:nvPr/>
        </p:nvSpPr>
        <p:spPr>
          <a:xfrm>
            <a:off x="838200" y="1859339"/>
            <a:ext cx="10979552" cy="2862322"/>
          </a:xfrm>
          <a:prstGeom prst="rect">
            <a:avLst/>
          </a:prstGeom>
          <a:noFill/>
        </p:spPr>
        <p:txBody>
          <a:bodyPr wrap="square">
            <a:spAutoFit/>
          </a:bodyPr>
          <a:lstStyle/>
          <a:p>
            <a:r>
              <a:rPr lang="en-PS" b="1" dirty="0">
                <a:solidFill>
                  <a:schemeClr val="accent1">
                    <a:lumMod val="75000"/>
                  </a:schemeClr>
                </a:solidFill>
              </a:rPr>
              <a:t>ETL (Extract, Transform, Load):</a:t>
            </a:r>
          </a:p>
          <a:p>
            <a:endParaRPr lang="en-PS" dirty="0"/>
          </a:p>
          <a:p>
            <a:r>
              <a:rPr lang="en-PS" b="1" dirty="0"/>
              <a:t>Extract</a:t>
            </a:r>
            <a:r>
              <a:rPr lang="en-PS" dirty="0"/>
              <a:t>: In the ETL process, data is first extracted from various source systems such as databases, files, or APIs.</a:t>
            </a:r>
          </a:p>
          <a:p>
            <a:endParaRPr lang="en-PS" dirty="0"/>
          </a:p>
          <a:p>
            <a:r>
              <a:rPr lang="en-PS" b="1" dirty="0"/>
              <a:t>Transform</a:t>
            </a:r>
            <a:r>
              <a:rPr lang="en-PS" dirty="0"/>
              <a:t>: After extraction, the data undergoes a transformation phase where it is cleaned, filtered, and manipulated to meet the specific requirements of the target data warehouse or analytics system. </a:t>
            </a:r>
            <a:r>
              <a:rPr lang="en-PS" u="sng" dirty="0"/>
              <a:t>This may involve data cleansing, aggregation, data type conversion, and other transformations.</a:t>
            </a:r>
          </a:p>
          <a:p>
            <a:endParaRPr lang="en-PS" dirty="0"/>
          </a:p>
          <a:p>
            <a:r>
              <a:rPr lang="en-PS" b="1" dirty="0"/>
              <a:t>Load</a:t>
            </a:r>
            <a:r>
              <a:rPr lang="en-PS" dirty="0"/>
              <a:t>: Finally, the transformed data is loaded into the target data warehouse or repository, where it can be accessed and analyzed by business intelligence tools, reporting systems, or data analysts. </a:t>
            </a:r>
          </a:p>
        </p:txBody>
      </p:sp>
      <p:pic>
        <p:nvPicPr>
          <p:cNvPr id="5122" name="Picture 2" descr="ETL icon - vector illustration . Etl, extract, transform, load, extraction,  staging, area, data, warehouse, analytics, infographic, template,  presentation, concept, banner, icon set, icons . 17094538 Vector Art at  Vecteezy">
            <a:extLst>
              <a:ext uri="{FF2B5EF4-FFF2-40B4-BE49-F238E27FC236}">
                <a16:creationId xmlns:a16="http://schemas.microsoft.com/office/drawing/2014/main" id="{F99BBE75-99A5-272F-A51F-FD3D4A031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890312"/>
            <a:ext cx="4271059" cy="162389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2AA0A2A-70BC-0530-78A9-B676F4334731}"/>
              </a:ext>
            </a:extLst>
          </p:cNvPr>
          <p:cNvSpPr txBox="1"/>
          <p:nvPr/>
        </p:nvSpPr>
        <p:spPr>
          <a:xfrm>
            <a:off x="1984092" y="5240593"/>
            <a:ext cx="2738377" cy="923330"/>
          </a:xfrm>
          <a:prstGeom prst="rect">
            <a:avLst/>
          </a:prstGeom>
          <a:noFill/>
        </p:spPr>
        <p:txBody>
          <a:bodyPr wrap="square">
            <a:spAutoFit/>
          </a:bodyPr>
          <a:lstStyle/>
          <a:p>
            <a:r>
              <a:rPr lang="en-PS" dirty="0">
                <a:solidFill>
                  <a:srgbClr val="C00000"/>
                </a:solidFill>
              </a:rPr>
              <a:t>ETL is often batch-oriented and tends to be used for structured data.</a:t>
            </a:r>
          </a:p>
        </p:txBody>
      </p:sp>
    </p:spTree>
    <p:extLst>
      <p:ext uri="{BB962C8B-B14F-4D97-AF65-F5344CB8AC3E}">
        <p14:creationId xmlns:p14="http://schemas.microsoft.com/office/powerpoint/2010/main" val="2993936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99B6-B1F3-EEA2-68A9-0A5801F27B8F}"/>
              </a:ext>
            </a:extLst>
          </p:cNvPr>
          <p:cNvSpPr>
            <a:spLocks noGrp="1"/>
          </p:cNvSpPr>
          <p:nvPr>
            <p:ph type="title"/>
          </p:nvPr>
        </p:nvSpPr>
        <p:spPr/>
        <p:txBody>
          <a:bodyPr/>
          <a:lstStyle/>
          <a:p>
            <a:r>
              <a:rPr lang="en-PS" dirty="0"/>
              <a:t>ETL and ELT</a:t>
            </a:r>
            <a:br>
              <a:rPr lang="en-PS" dirty="0"/>
            </a:br>
            <a:r>
              <a:rPr lang="en-PS" b="1" dirty="0">
                <a:latin typeface="Franklin Gothic Medium" panose="020B0603020102020204" pitchFamily="34" charset="0"/>
              </a:rPr>
              <a:t>Concepts </a:t>
            </a:r>
          </a:p>
        </p:txBody>
      </p:sp>
      <p:sp>
        <p:nvSpPr>
          <p:cNvPr id="5" name="TextBox 4">
            <a:extLst>
              <a:ext uri="{FF2B5EF4-FFF2-40B4-BE49-F238E27FC236}">
                <a16:creationId xmlns:a16="http://schemas.microsoft.com/office/drawing/2014/main" id="{A2FF0269-0FAA-D33A-FDE8-86BA1B9A3ACB}"/>
              </a:ext>
            </a:extLst>
          </p:cNvPr>
          <p:cNvSpPr txBox="1"/>
          <p:nvPr/>
        </p:nvSpPr>
        <p:spPr>
          <a:xfrm>
            <a:off x="838200" y="2004302"/>
            <a:ext cx="10886954" cy="3416320"/>
          </a:xfrm>
          <a:prstGeom prst="rect">
            <a:avLst/>
          </a:prstGeom>
          <a:noFill/>
        </p:spPr>
        <p:txBody>
          <a:bodyPr wrap="square">
            <a:spAutoFit/>
          </a:bodyPr>
          <a:lstStyle/>
          <a:p>
            <a:r>
              <a:rPr lang="en-PS" b="1" dirty="0">
                <a:solidFill>
                  <a:schemeClr val="accent1">
                    <a:lumMod val="75000"/>
                  </a:schemeClr>
                </a:solidFill>
              </a:rPr>
              <a:t>ELT (Extract, Load, Transform):</a:t>
            </a:r>
            <a:endParaRPr lang="en-PS" dirty="0"/>
          </a:p>
          <a:p>
            <a:endParaRPr lang="en-PS" dirty="0"/>
          </a:p>
          <a:p>
            <a:r>
              <a:rPr lang="en-PS" b="1" dirty="0"/>
              <a:t>Extract</a:t>
            </a:r>
            <a:r>
              <a:rPr lang="en-PS" dirty="0"/>
              <a:t>: Similar to ETL, data is initially extracted from source systems.</a:t>
            </a:r>
          </a:p>
          <a:p>
            <a:endParaRPr lang="en-PS" dirty="0"/>
          </a:p>
          <a:p>
            <a:r>
              <a:rPr lang="en-PS" b="1" dirty="0"/>
              <a:t>Load</a:t>
            </a:r>
            <a:r>
              <a:rPr lang="en-PS" dirty="0"/>
              <a:t>: In ELT, the data is first loaded into the target storage or data warehouse without significant transformation. It's stored in its raw or semi-structured form.</a:t>
            </a:r>
          </a:p>
          <a:p>
            <a:endParaRPr lang="en-PS" dirty="0"/>
          </a:p>
          <a:p>
            <a:r>
              <a:rPr lang="en-PS" b="1" dirty="0"/>
              <a:t>Transform</a:t>
            </a:r>
            <a:r>
              <a:rPr lang="en-PS" dirty="0"/>
              <a:t>: Transformation occurs after the data is loaded into the target system. Users can then perform transformations, data cleaning, and modeling using the processing power and tools available within the target system, often a data warehouse like Snowflake or Google BigQuery. ELT is more suitable for handling unstructured or semi-structured data and is commonly used in modern data warehousing architectures.</a:t>
            </a:r>
          </a:p>
          <a:p>
            <a:endParaRPr lang="en-PS" dirty="0"/>
          </a:p>
        </p:txBody>
      </p:sp>
    </p:spTree>
    <p:extLst>
      <p:ext uri="{BB962C8B-B14F-4D97-AF65-F5344CB8AC3E}">
        <p14:creationId xmlns:p14="http://schemas.microsoft.com/office/powerpoint/2010/main" val="1867040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9C3F0-6BEC-32B6-A619-93B14D0E92E2}"/>
              </a:ext>
            </a:extLst>
          </p:cNvPr>
          <p:cNvSpPr>
            <a:spLocks noGrp="1"/>
          </p:cNvSpPr>
          <p:nvPr>
            <p:ph type="title"/>
          </p:nvPr>
        </p:nvSpPr>
        <p:spPr/>
        <p:txBody>
          <a:bodyPr/>
          <a:lstStyle/>
          <a:p>
            <a:r>
              <a:rPr lang="en-US" dirty="0"/>
              <a:t>S</a:t>
            </a:r>
            <a:r>
              <a:rPr lang="en-PS" dirty="0"/>
              <a:t>taging Area</a:t>
            </a:r>
            <a:br>
              <a:rPr lang="en-PS" dirty="0"/>
            </a:br>
            <a:r>
              <a:rPr lang="en-PS" b="1" dirty="0">
                <a:latin typeface="Franklin Gothic Medium" panose="020B0603020102020204" pitchFamily="34" charset="0"/>
              </a:rPr>
              <a:t>Concept </a:t>
            </a:r>
          </a:p>
        </p:txBody>
      </p:sp>
      <p:sp>
        <p:nvSpPr>
          <p:cNvPr id="7" name="TextBox 6">
            <a:extLst>
              <a:ext uri="{FF2B5EF4-FFF2-40B4-BE49-F238E27FC236}">
                <a16:creationId xmlns:a16="http://schemas.microsoft.com/office/drawing/2014/main" id="{6AED61D9-7992-CF44-1A83-634E3934C96F}"/>
              </a:ext>
            </a:extLst>
          </p:cNvPr>
          <p:cNvSpPr txBox="1"/>
          <p:nvPr/>
        </p:nvSpPr>
        <p:spPr>
          <a:xfrm>
            <a:off x="838199" y="1690688"/>
            <a:ext cx="11060575" cy="2862322"/>
          </a:xfrm>
          <a:prstGeom prst="rect">
            <a:avLst/>
          </a:prstGeom>
          <a:noFill/>
        </p:spPr>
        <p:txBody>
          <a:bodyPr wrap="square">
            <a:spAutoFit/>
          </a:bodyPr>
          <a:lstStyle/>
          <a:p>
            <a:r>
              <a:rPr lang="en-PS" dirty="0"/>
              <a:t>A staging area in data engineering:</a:t>
            </a:r>
          </a:p>
          <a:p>
            <a:r>
              <a:rPr lang="en-PS" dirty="0"/>
              <a:t>is a temporary storage area where raw or unprocessed data from various sources is initially loaded and stored before it undergoes further processing, cleansing, and transformation. </a:t>
            </a:r>
          </a:p>
          <a:p>
            <a:endParaRPr lang="en-PS" dirty="0"/>
          </a:p>
          <a:p>
            <a:r>
              <a:rPr lang="en-PS" dirty="0"/>
              <a:t>It serves as a buffer between source systems and the data warehouse or analytics platform, allowing data engineers to </a:t>
            </a:r>
            <a:r>
              <a:rPr lang="en-PS" u="sng" dirty="0"/>
              <a:t>validate, clean, and prepare the data </a:t>
            </a:r>
            <a:r>
              <a:rPr lang="en-PS" dirty="0"/>
              <a:t>for analysis without affecting the performance or integrity of the target system. </a:t>
            </a:r>
          </a:p>
          <a:p>
            <a:endParaRPr lang="en-PS" dirty="0"/>
          </a:p>
          <a:p>
            <a:r>
              <a:rPr lang="en-PS" dirty="0"/>
              <a:t>Staging areas are crucial for data quality control and ensuring that only reliable and well-structured data enters the final storage or analytical environment.</a:t>
            </a:r>
          </a:p>
        </p:txBody>
      </p:sp>
      <p:pic>
        <p:nvPicPr>
          <p:cNvPr id="11" name="Picture 10">
            <a:extLst>
              <a:ext uri="{FF2B5EF4-FFF2-40B4-BE49-F238E27FC236}">
                <a16:creationId xmlns:a16="http://schemas.microsoft.com/office/drawing/2014/main" id="{93D85F6A-1C44-7C34-2592-48751E6A5A78}"/>
              </a:ext>
            </a:extLst>
          </p:cNvPr>
          <p:cNvPicPr>
            <a:picLocks noChangeAspect="1"/>
          </p:cNvPicPr>
          <p:nvPr/>
        </p:nvPicPr>
        <p:blipFill>
          <a:blip r:embed="rId3"/>
          <a:stretch>
            <a:fillRect/>
          </a:stretch>
        </p:blipFill>
        <p:spPr>
          <a:xfrm>
            <a:off x="2071869" y="4710093"/>
            <a:ext cx="7772400" cy="1642820"/>
          </a:xfrm>
          <a:prstGeom prst="rect">
            <a:avLst/>
          </a:prstGeom>
        </p:spPr>
      </p:pic>
    </p:spTree>
    <p:extLst>
      <p:ext uri="{BB962C8B-B14F-4D97-AF65-F5344CB8AC3E}">
        <p14:creationId xmlns:p14="http://schemas.microsoft.com/office/powerpoint/2010/main" val="401322595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FDD92-682D-30FD-69C2-1B2D8D5A79CB}"/>
              </a:ext>
            </a:extLst>
          </p:cNvPr>
          <p:cNvSpPr>
            <a:spLocks noGrp="1"/>
          </p:cNvSpPr>
          <p:nvPr>
            <p:ph type="title"/>
          </p:nvPr>
        </p:nvSpPr>
        <p:spPr/>
        <p:txBody>
          <a:bodyPr>
            <a:normAutofit/>
          </a:bodyPr>
          <a:lstStyle/>
          <a:p>
            <a:r>
              <a:rPr lang="en-PS" dirty="0"/>
              <a:t>Data lake and Data warehouse </a:t>
            </a:r>
            <a:br>
              <a:rPr lang="en-PS" dirty="0"/>
            </a:br>
            <a:r>
              <a:rPr lang="en-PS" b="1" dirty="0">
                <a:latin typeface="Franklin Gothic Medium" panose="020B0603020102020204" pitchFamily="34" charset="0"/>
              </a:rPr>
              <a:t>Differ</a:t>
            </a:r>
            <a:r>
              <a:rPr lang="en-US" b="1" dirty="0">
                <a:latin typeface="Franklin Gothic Medium" panose="020B0603020102020204" pitchFamily="34" charset="0"/>
              </a:rPr>
              <a:t>e</a:t>
            </a:r>
            <a:r>
              <a:rPr lang="en-PS" b="1" dirty="0">
                <a:latin typeface="Franklin Gothic Medium" panose="020B0603020102020204" pitchFamily="34" charset="0"/>
              </a:rPr>
              <a:t>nces  </a:t>
            </a:r>
          </a:p>
        </p:txBody>
      </p:sp>
      <p:sp>
        <p:nvSpPr>
          <p:cNvPr id="7" name="TextBox 6">
            <a:extLst>
              <a:ext uri="{FF2B5EF4-FFF2-40B4-BE49-F238E27FC236}">
                <a16:creationId xmlns:a16="http://schemas.microsoft.com/office/drawing/2014/main" id="{FB7FCA1A-0FE8-1D06-479F-FB502F5710E4}"/>
              </a:ext>
            </a:extLst>
          </p:cNvPr>
          <p:cNvSpPr txBox="1"/>
          <p:nvPr/>
        </p:nvSpPr>
        <p:spPr>
          <a:xfrm>
            <a:off x="838200" y="2015878"/>
            <a:ext cx="6099858" cy="2308324"/>
          </a:xfrm>
          <a:prstGeom prst="rect">
            <a:avLst/>
          </a:prstGeom>
          <a:noFill/>
        </p:spPr>
        <p:txBody>
          <a:bodyPr wrap="square">
            <a:spAutoFit/>
          </a:bodyPr>
          <a:lstStyle/>
          <a:p>
            <a:endParaRPr lang="en-PS" dirty="0"/>
          </a:p>
          <a:p>
            <a:r>
              <a:rPr lang="en-PS" dirty="0"/>
              <a:t>Data Lake:</a:t>
            </a:r>
          </a:p>
          <a:p>
            <a:endParaRPr lang="en-PS" dirty="0"/>
          </a:p>
          <a:p>
            <a:r>
              <a:rPr lang="en-PS" dirty="0"/>
              <a:t>Suitable for storing raw, diverse data types.</a:t>
            </a:r>
          </a:p>
          <a:p>
            <a:r>
              <a:rPr lang="en-PS" dirty="0"/>
              <a:t>Schema-on-read for flexibility.</a:t>
            </a:r>
          </a:p>
          <a:p>
            <a:r>
              <a:rPr lang="en-PS" dirty="0"/>
              <a:t>Supports batch and real-time processing.</a:t>
            </a:r>
          </a:p>
          <a:p>
            <a:r>
              <a:rPr lang="en-PS" dirty="0"/>
              <a:t>Ideal for big data and exploratory analysis.</a:t>
            </a:r>
          </a:p>
          <a:p>
            <a:r>
              <a:rPr lang="en-PS" dirty="0"/>
              <a:t>Cost-effective for large unprocessed data.</a:t>
            </a:r>
          </a:p>
        </p:txBody>
      </p:sp>
      <p:sp>
        <p:nvSpPr>
          <p:cNvPr id="9" name="TextBox 8">
            <a:extLst>
              <a:ext uri="{FF2B5EF4-FFF2-40B4-BE49-F238E27FC236}">
                <a16:creationId xmlns:a16="http://schemas.microsoft.com/office/drawing/2014/main" id="{B862EB44-49CA-C4DC-C24B-D13473812DD3}"/>
              </a:ext>
            </a:extLst>
          </p:cNvPr>
          <p:cNvSpPr txBox="1"/>
          <p:nvPr/>
        </p:nvSpPr>
        <p:spPr>
          <a:xfrm>
            <a:off x="5543310" y="2274838"/>
            <a:ext cx="6099858" cy="2308324"/>
          </a:xfrm>
          <a:prstGeom prst="rect">
            <a:avLst/>
          </a:prstGeom>
          <a:noFill/>
        </p:spPr>
        <p:txBody>
          <a:bodyPr wrap="square">
            <a:spAutoFit/>
          </a:bodyPr>
          <a:lstStyle/>
          <a:p>
            <a:r>
              <a:rPr lang="en-PS" dirty="0"/>
              <a:t>Data Warehouse:</a:t>
            </a:r>
          </a:p>
          <a:p>
            <a:endParaRPr lang="en-PS" dirty="0"/>
          </a:p>
          <a:p>
            <a:r>
              <a:rPr lang="en-PS" dirty="0"/>
              <a:t>Designed for structured data with predefined schemas.</a:t>
            </a:r>
          </a:p>
          <a:p>
            <a:r>
              <a:rPr lang="en-PS" dirty="0"/>
              <a:t>Schema-on-write for data optimization.</a:t>
            </a:r>
          </a:p>
          <a:p>
            <a:r>
              <a:rPr lang="en-PS" dirty="0"/>
              <a:t>Optimized for batch processing and reporting.</a:t>
            </a:r>
          </a:p>
          <a:p>
            <a:r>
              <a:rPr lang="en-PS" dirty="0"/>
              <a:t>Ideal for business intelligence and structured data analysis.</a:t>
            </a:r>
          </a:p>
          <a:p>
            <a:r>
              <a:rPr lang="en-PS" dirty="0"/>
              <a:t>Typically higher cost due to data structuring.</a:t>
            </a:r>
          </a:p>
          <a:p>
            <a:endParaRPr lang="en-PS" dirty="0"/>
          </a:p>
        </p:txBody>
      </p:sp>
      <p:sp>
        <p:nvSpPr>
          <p:cNvPr id="11" name="TextBox 10">
            <a:extLst>
              <a:ext uri="{FF2B5EF4-FFF2-40B4-BE49-F238E27FC236}">
                <a16:creationId xmlns:a16="http://schemas.microsoft.com/office/drawing/2014/main" id="{F41A3A6E-9734-E9A0-335E-6FFB5B88FD72}"/>
              </a:ext>
            </a:extLst>
          </p:cNvPr>
          <p:cNvSpPr txBox="1"/>
          <p:nvPr/>
        </p:nvSpPr>
        <p:spPr>
          <a:xfrm>
            <a:off x="2934182" y="4184551"/>
            <a:ext cx="6099858" cy="2308324"/>
          </a:xfrm>
          <a:prstGeom prst="rect">
            <a:avLst/>
          </a:prstGeom>
          <a:noFill/>
        </p:spPr>
        <p:txBody>
          <a:bodyPr wrap="square">
            <a:spAutoFit/>
          </a:bodyPr>
          <a:lstStyle/>
          <a:p>
            <a:endParaRPr lang="en-PS" dirty="0"/>
          </a:p>
          <a:p>
            <a:endParaRPr lang="en-PS" dirty="0"/>
          </a:p>
          <a:p>
            <a:r>
              <a:rPr lang="en-PS" dirty="0"/>
              <a:t>Key Difference:</a:t>
            </a:r>
          </a:p>
          <a:p>
            <a:endParaRPr lang="en-PS" dirty="0"/>
          </a:p>
          <a:p>
            <a:r>
              <a:rPr lang="en-PS" dirty="0"/>
              <a:t>Data Lake is best for diverse, raw data, while Data Warehouse is for structured data, with both often used together to meet various data storage and analysis needs.</a:t>
            </a:r>
          </a:p>
          <a:p>
            <a:endParaRPr lang="en-PS" dirty="0"/>
          </a:p>
        </p:txBody>
      </p:sp>
    </p:spTree>
    <p:extLst>
      <p:ext uri="{BB962C8B-B14F-4D97-AF65-F5344CB8AC3E}">
        <p14:creationId xmlns:p14="http://schemas.microsoft.com/office/powerpoint/2010/main" val="613970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E689E-3117-850E-B3D6-30CB6B24FC69}"/>
              </a:ext>
            </a:extLst>
          </p:cNvPr>
          <p:cNvSpPr>
            <a:spLocks noGrp="1"/>
          </p:cNvSpPr>
          <p:nvPr>
            <p:ph type="title"/>
          </p:nvPr>
        </p:nvSpPr>
        <p:spPr/>
        <p:txBody>
          <a:bodyPr/>
          <a:lstStyle/>
          <a:p>
            <a:r>
              <a:rPr lang="en-PS" b="1" dirty="0">
                <a:latin typeface="Franklin Gothic Medium" panose="020B0603020102020204" pitchFamily="34" charset="0"/>
              </a:rPr>
              <a:t>OLAP vs OLTP</a:t>
            </a:r>
          </a:p>
        </p:txBody>
      </p:sp>
      <p:sp>
        <p:nvSpPr>
          <p:cNvPr id="5" name="TextBox 4">
            <a:extLst>
              <a:ext uri="{FF2B5EF4-FFF2-40B4-BE49-F238E27FC236}">
                <a16:creationId xmlns:a16="http://schemas.microsoft.com/office/drawing/2014/main" id="{F127E6AE-C6B1-57AA-CC88-27D985563AA9}"/>
              </a:ext>
            </a:extLst>
          </p:cNvPr>
          <p:cNvSpPr txBox="1"/>
          <p:nvPr/>
        </p:nvSpPr>
        <p:spPr>
          <a:xfrm>
            <a:off x="838200" y="1229592"/>
            <a:ext cx="10817506" cy="5355312"/>
          </a:xfrm>
          <a:prstGeom prst="rect">
            <a:avLst/>
          </a:prstGeom>
          <a:noFill/>
        </p:spPr>
        <p:txBody>
          <a:bodyPr wrap="square">
            <a:spAutoFit/>
          </a:bodyPr>
          <a:lstStyle/>
          <a:p>
            <a:endParaRPr lang="en-PS" dirty="0"/>
          </a:p>
          <a:p>
            <a:r>
              <a:rPr lang="en-PS" b="1" dirty="0">
                <a:solidFill>
                  <a:schemeClr val="accent1">
                    <a:lumMod val="75000"/>
                  </a:schemeClr>
                </a:solidFill>
              </a:rPr>
              <a:t>OLTP </a:t>
            </a:r>
            <a:r>
              <a:rPr lang="ar-SA" b="1" dirty="0">
                <a:solidFill>
                  <a:schemeClr val="accent1">
                    <a:lumMod val="75000"/>
                  </a:schemeClr>
                </a:solidFill>
              </a:rPr>
              <a:t>)</a:t>
            </a:r>
            <a:r>
              <a:rPr lang="en-PS" b="1" dirty="0">
                <a:solidFill>
                  <a:schemeClr val="accent1">
                    <a:lumMod val="75000"/>
                  </a:schemeClr>
                </a:solidFill>
              </a:rPr>
              <a:t>Online Transaction Processing</a:t>
            </a:r>
            <a:r>
              <a:rPr lang="ar-SA" b="1" dirty="0">
                <a:solidFill>
                  <a:schemeClr val="accent1">
                    <a:lumMod val="75000"/>
                  </a:schemeClr>
                </a:solidFill>
              </a:rPr>
              <a:t>(</a:t>
            </a:r>
            <a:endParaRPr lang="en-PS" b="1" dirty="0">
              <a:solidFill>
                <a:schemeClr val="accent1">
                  <a:lumMod val="75000"/>
                </a:schemeClr>
              </a:solidFill>
            </a:endParaRPr>
          </a:p>
          <a:p>
            <a:r>
              <a:rPr lang="en-PS" dirty="0"/>
              <a:t>Primary purpose: Efficiently manage and process day-to-day transactional data.</a:t>
            </a:r>
          </a:p>
          <a:p>
            <a:r>
              <a:rPr lang="en-PS" b="1" dirty="0"/>
              <a:t>Characteristics:</a:t>
            </a:r>
          </a:p>
          <a:p>
            <a:pPr marL="285750" indent="-285750">
              <a:buFont typeface="Arial" panose="020B0604020202020204" pitchFamily="34" charset="0"/>
              <a:buChar char="•"/>
            </a:pPr>
            <a:r>
              <a:rPr lang="en-PS" dirty="0"/>
              <a:t>Fast response times.</a:t>
            </a:r>
          </a:p>
          <a:p>
            <a:pPr marL="285750" indent="-285750">
              <a:buFont typeface="Arial" panose="020B0604020202020204" pitchFamily="34" charset="0"/>
              <a:buChar char="•"/>
            </a:pPr>
            <a:r>
              <a:rPr lang="en-PS" dirty="0"/>
              <a:t>Focused on individual transactions.</a:t>
            </a:r>
          </a:p>
          <a:p>
            <a:pPr marL="285750" indent="-285750">
              <a:buFont typeface="Arial" panose="020B0604020202020204" pitchFamily="34" charset="0"/>
              <a:buChar char="•"/>
            </a:pPr>
            <a:r>
              <a:rPr lang="en-PS" dirty="0"/>
              <a:t>Normalized data structure.</a:t>
            </a:r>
          </a:p>
          <a:p>
            <a:pPr marL="285750" indent="-285750">
              <a:buFont typeface="Arial" panose="020B0604020202020204" pitchFamily="34" charset="0"/>
              <a:buChar char="•"/>
            </a:pPr>
            <a:r>
              <a:rPr lang="en-PS" dirty="0"/>
              <a:t>Concurrent user support.</a:t>
            </a:r>
          </a:p>
          <a:p>
            <a:r>
              <a:rPr lang="en-PS" b="1" dirty="0"/>
              <a:t>Common use cases:</a:t>
            </a:r>
          </a:p>
          <a:p>
            <a:pPr marL="285750" indent="-285750">
              <a:buFont typeface="Arial" panose="020B0604020202020204" pitchFamily="34" charset="0"/>
              <a:buChar char="•"/>
            </a:pPr>
            <a:r>
              <a:rPr lang="en-PS" dirty="0"/>
              <a:t>Point-of-sale systems.</a:t>
            </a:r>
          </a:p>
          <a:p>
            <a:pPr marL="285750" indent="-285750">
              <a:buFont typeface="Arial" panose="020B0604020202020204" pitchFamily="34" charset="0"/>
              <a:buChar char="•"/>
            </a:pPr>
            <a:r>
              <a:rPr lang="en-PS" dirty="0"/>
              <a:t>Online banking.</a:t>
            </a:r>
          </a:p>
          <a:p>
            <a:pPr marL="285750" indent="-285750">
              <a:buFont typeface="Arial" panose="020B0604020202020204" pitchFamily="34" charset="0"/>
              <a:buChar char="•"/>
            </a:pPr>
            <a:r>
              <a:rPr lang="en-PS" dirty="0"/>
              <a:t>E-commerce order processing.</a:t>
            </a:r>
          </a:p>
          <a:p>
            <a:r>
              <a:rPr lang="en-PS" b="1" dirty="0"/>
              <a:t>Key benefits:</a:t>
            </a:r>
          </a:p>
          <a:p>
            <a:pPr marL="285750" indent="-285750">
              <a:buFont typeface="Arial" panose="020B0604020202020204" pitchFamily="34" charset="0"/>
              <a:buChar char="•"/>
            </a:pPr>
            <a:r>
              <a:rPr lang="en-PS" dirty="0"/>
              <a:t>Ensures data integrity.</a:t>
            </a:r>
          </a:p>
          <a:p>
            <a:pPr marL="285750" indent="-285750">
              <a:buFont typeface="Arial" panose="020B0604020202020204" pitchFamily="34" charset="0"/>
              <a:buChar char="•"/>
            </a:pPr>
            <a:r>
              <a:rPr lang="en-PS" dirty="0"/>
              <a:t>Supports high transaction volumes.</a:t>
            </a:r>
          </a:p>
          <a:p>
            <a:pPr marL="285750" indent="-285750">
              <a:buFont typeface="Arial" panose="020B0604020202020204" pitchFamily="34" charset="0"/>
              <a:buChar char="•"/>
            </a:pPr>
            <a:r>
              <a:rPr lang="en-PS" dirty="0"/>
              <a:t>Real-time data updates.</a:t>
            </a:r>
          </a:p>
          <a:p>
            <a:r>
              <a:rPr lang="en-PS" b="1" dirty="0"/>
              <a:t>Key technologies:</a:t>
            </a:r>
          </a:p>
          <a:p>
            <a:pPr marL="285750" indent="-285750">
              <a:buFont typeface="Arial" panose="020B0604020202020204" pitchFamily="34" charset="0"/>
              <a:buChar char="•"/>
            </a:pPr>
            <a:r>
              <a:rPr lang="en-PS" dirty="0"/>
              <a:t>Relational databases (e.g., MySQL, Oracle).</a:t>
            </a:r>
          </a:p>
          <a:p>
            <a:pPr marL="285750" indent="-285750">
              <a:buFont typeface="Arial" panose="020B0604020202020204" pitchFamily="34" charset="0"/>
              <a:buChar char="•"/>
            </a:pPr>
            <a:r>
              <a:rPr lang="en-PS" dirty="0"/>
              <a:t>ACID (Atomicity, Consistency, Isolation, Durability) transactions.</a:t>
            </a:r>
          </a:p>
        </p:txBody>
      </p:sp>
    </p:spTree>
    <p:extLst>
      <p:ext uri="{BB962C8B-B14F-4D97-AF65-F5344CB8AC3E}">
        <p14:creationId xmlns:p14="http://schemas.microsoft.com/office/powerpoint/2010/main" val="219669136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E305D-049B-6398-64E0-61BE6289558B}"/>
              </a:ext>
            </a:extLst>
          </p:cNvPr>
          <p:cNvSpPr>
            <a:spLocks noGrp="1"/>
          </p:cNvSpPr>
          <p:nvPr>
            <p:ph type="title"/>
          </p:nvPr>
        </p:nvSpPr>
        <p:spPr/>
        <p:txBody>
          <a:bodyPr/>
          <a:lstStyle/>
          <a:p>
            <a:r>
              <a:rPr lang="en-PS" b="1" dirty="0">
                <a:latin typeface="Franklin Gothic Medium" panose="020B0603020102020204" pitchFamily="34" charset="0"/>
              </a:rPr>
              <a:t>OLAP vs OLTP</a:t>
            </a:r>
          </a:p>
        </p:txBody>
      </p:sp>
      <p:sp>
        <p:nvSpPr>
          <p:cNvPr id="5" name="TextBox 4">
            <a:extLst>
              <a:ext uri="{FF2B5EF4-FFF2-40B4-BE49-F238E27FC236}">
                <a16:creationId xmlns:a16="http://schemas.microsoft.com/office/drawing/2014/main" id="{103B8C4E-0E86-1150-FF2C-E158260AA583}"/>
              </a:ext>
            </a:extLst>
          </p:cNvPr>
          <p:cNvSpPr txBox="1"/>
          <p:nvPr/>
        </p:nvSpPr>
        <p:spPr>
          <a:xfrm>
            <a:off x="838200" y="1333765"/>
            <a:ext cx="10875380" cy="5355312"/>
          </a:xfrm>
          <a:prstGeom prst="rect">
            <a:avLst/>
          </a:prstGeom>
          <a:noFill/>
        </p:spPr>
        <p:txBody>
          <a:bodyPr wrap="square">
            <a:spAutoFit/>
          </a:bodyPr>
          <a:lstStyle/>
          <a:p>
            <a:r>
              <a:rPr lang="en-PS" b="1" dirty="0">
                <a:solidFill>
                  <a:schemeClr val="accent1">
                    <a:lumMod val="75000"/>
                  </a:schemeClr>
                </a:solidFill>
              </a:rPr>
              <a:t>OLAP </a:t>
            </a:r>
            <a:r>
              <a:rPr lang="ar-SA" b="1" dirty="0">
                <a:solidFill>
                  <a:schemeClr val="accent1">
                    <a:lumMod val="75000"/>
                  </a:schemeClr>
                </a:solidFill>
              </a:rPr>
              <a:t>)</a:t>
            </a:r>
            <a:r>
              <a:rPr lang="en-PS" b="1" dirty="0">
                <a:solidFill>
                  <a:schemeClr val="accent1">
                    <a:lumMod val="75000"/>
                  </a:schemeClr>
                </a:solidFill>
              </a:rPr>
              <a:t>Online Analytical Processing</a:t>
            </a:r>
            <a:r>
              <a:rPr lang="ar-SA" b="1" dirty="0">
                <a:solidFill>
                  <a:schemeClr val="accent1">
                    <a:lumMod val="75000"/>
                  </a:schemeClr>
                </a:solidFill>
              </a:rPr>
              <a:t>(</a:t>
            </a:r>
            <a:endParaRPr lang="en-PS" b="1" dirty="0">
              <a:solidFill>
                <a:schemeClr val="accent1">
                  <a:lumMod val="75000"/>
                </a:schemeClr>
              </a:solidFill>
            </a:endParaRPr>
          </a:p>
          <a:p>
            <a:r>
              <a:rPr lang="en-PS" dirty="0"/>
              <a:t>Primary purpose: Perform complex, multidimensional analysis on historical data.</a:t>
            </a:r>
          </a:p>
          <a:p>
            <a:r>
              <a:rPr lang="en-PS" b="1" dirty="0"/>
              <a:t>Characteristics:</a:t>
            </a:r>
          </a:p>
          <a:p>
            <a:pPr marL="285750" indent="-285750">
              <a:buFont typeface="Arial" panose="020B0604020202020204" pitchFamily="34" charset="0"/>
              <a:buChar char="•"/>
            </a:pPr>
            <a:r>
              <a:rPr lang="en-PS" dirty="0"/>
              <a:t>Query-intensive.</a:t>
            </a:r>
          </a:p>
          <a:p>
            <a:pPr marL="285750" indent="-285750">
              <a:buFont typeface="Arial" panose="020B0604020202020204" pitchFamily="34" charset="0"/>
              <a:buChar char="•"/>
            </a:pPr>
            <a:r>
              <a:rPr lang="en-PS" dirty="0"/>
              <a:t>Aggregated and summarized data.</a:t>
            </a:r>
          </a:p>
          <a:p>
            <a:pPr marL="285750" indent="-285750">
              <a:buFont typeface="Arial" panose="020B0604020202020204" pitchFamily="34" charset="0"/>
              <a:buChar char="•"/>
            </a:pPr>
            <a:r>
              <a:rPr lang="en-PS" dirty="0"/>
              <a:t>Denormalized data structure (star or snowflake schema).</a:t>
            </a:r>
          </a:p>
          <a:p>
            <a:pPr marL="285750" indent="-285750">
              <a:buFont typeface="Arial" panose="020B0604020202020204" pitchFamily="34" charset="0"/>
              <a:buChar char="•"/>
            </a:pPr>
            <a:r>
              <a:rPr lang="en-PS" dirty="0"/>
              <a:t>Decision support and business intelligence.</a:t>
            </a:r>
          </a:p>
          <a:p>
            <a:r>
              <a:rPr lang="en-PS" b="1" dirty="0"/>
              <a:t>Common use cases:</a:t>
            </a:r>
          </a:p>
          <a:p>
            <a:pPr marL="285750" indent="-285750">
              <a:buFont typeface="Arial" panose="020B0604020202020204" pitchFamily="34" charset="0"/>
              <a:buChar char="•"/>
            </a:pPr>
            <a:r>
              <a:rPr lang="en-PS" dirty="0"/>
              <a:t>Business reporting and analytics.</a:t>
            </a:r>
          </a:p>
          <a:p>
            <a:pPr marL="285750" indent="-285750">
              <a:buFont typeface="Arial" panose="020B0604020202020204" pitchFamily="34" charset="0"/>
              <a:buChar char="•"/>
            </a:pPr>
            <a:r>
              <a:rPr lang="en-PS" dirty="0"/>
              <a:t>Data mining and forecasting.</a:t>
            </a:r>
          </a:p>
          <a:p>
            <a:pPr marL="285750" indent="-285750">
              <a:buFont typeface="Arial" panose="020B0604020202020204" pitchFamily="34" charset="0"/>
              <a:buChar char="•"/>
            </a:pPr>
            <a:r>
              <a:rPr lang="en-PS" dirty="0"/>
              <a:t>Market research.</a:t>
            </a:r>
          </a:p>
          <a:p>
            <a:r>
              <a:rPr lang="en-PS" b="1" dirty="0"/>
              <a:t>Key benefits:</a:t>
            </a:r>
          </a:p>
          <a:p>
            <a:pPr marL="285750" indent="-285750">
              <a:buFont typeface="Arial" panose="020B0604020202020204" pitchFamily="34" charset="0"/>
              <a:buChar char="•"/>
            </a:pPr>
            <a:r>
              <a:rPr lang="en-PS" dirty="0"/>
              <a:t>Supports complex analytical queries.</a:t>
            </a:r>
          </a:p>
          <a:p>
            <a:pPr marL="285750" indent="-285750">
              <a:buFont typeface="Arial" panose="020B0604020202020204" pitchFamily="34" charset="0"/>
              <a:buChar char="•"/>
            </a:pPr>
            <a:r>
              <a:rPr lang="en-PS" dirty="0"/>
              <a:t>Enables historical and trend analysis.</a:t>
            </a:r>
          </a:p>
          <a:p>
            <a:pPr marL="285750" indent="-285750">
              <a:buFont typeface="Arial" panose="020B0604020202020204" pitchFamily="34" charset="0"/>
              <a:buChar char="•"/>
            </a:pPr>
            <a:r>
              <a:rPr lang="en-PS" dirty="0"/>
              <a:t>Facilitates data slicing, dicing, and drilling.</a:t>
            </a:r>
          </a:p>
          <a:p>
            <a:r>
              <a:rPr lang="en-PS" b="1" dirty="0"/>
              <a:t>Key technologies:</a:t>
            </a:r>
          </a:p>
          <a:p>
            <a:pPr marL="285750" indent="-285750">
              <a:buFont typeface="Arial" panose="020B0604020202020204" pitchFamily="34" charset="0"/>
              <a:buChar char="•"/>
            </a:pPr>
            <a:r>
              <a:rPr lang="en-PS" dirty="0"/>
              <a:t>Data warehousing (e.g., Microsoft SQL Server Analysis Services, IBM Cognos).</a:t>
            </a:r>
          </a:p>
          <a:p>
            <a:pPr marL="285750" indent="-285750">
              <a:buFont typeface="Arial" panose="020B0604020202020204" pitchFamily="34" charset="0"/>
              <a:buChar char="•"/>
            </a:pPr>
            <a:r>
              <a:rPr lang="en-PS" dirty="0"/>
              <a:t>OLAP cubes.</a:t>
            </a:r>
          </a:p>
          <a:p>
            <a:pPr marL="285750" indent="-285750">
              <a:buFont typeface="Arial" panose="020B0604020202020204" pitchFamily="34" charset="0"/>
              <a:buChar char="•"/>
            </a:pPr>
            <a:r>
              <a:rPr lang="en-PS" dirty="0"/>
              <a:t>Dimensional modeling.</a:t>
            </a:r>
          </a:p>
        </p:txBody>
      </p:sp>
    </p:spTree>
    <p:extLst>
      <p:ext uri="{BB962C8B-B14F-4D97-AF65-F5344CB8AC3E}">
        <p14:creationId xmlns:p14="http://schemas.microsoft.com/office/powerpoint/2010/main" val="3652677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32E38-01F0-178A-ABF2-631B41CAC1E6}"/>
              </a:ext>
            </a:extLst>
          </p:cNvPr>
          <p:cNvSpPr>
            <a:spLocks noGrp="1"/>
          </p:cNvSpPr>
          <p:nvPr>
            <p:ph type="title"/>
          </p:nvPr>
        </p:nvSpPr>
        <p:spPr/>
        <p:txBody>
          <a:bodyPr/>
          <a:lstStyle/>
          <a:p>
            <a:r>
              <a:rPr lang="en-PS" b="1" dirty="0">
                <a:latin typeface="Franklin Gothic Medium" panose="020B0603020102020204" pitchFamily="34" charset="0"/>
              </a:rPr>
              <a:t>Data Warehousing </a:t>
            </a:r>
            <a:r>
              <a:rPr lang="en-US" b="1" dirty="0">
                <a:latin typeface="Franklin Gothic Medium" panose="020B0603020102020204" pitchFamily="34" charset="0"/>
              </a:rPr>
              <a:t>Types</a:t>
            </a:r>
            <a:r>
              <a:rPr lang="en-PS" b="1" dirty="0">
                <a:latin typeface="Franklin Gothic Medium" panose="020B0603020102020204" pitchFamily="34" charset="0"/>
              </a:rPr>
              <a:t> </a:t>
            </a:r>
          </a:p>
        </p:txBody>
      </p:sp>
      <p:sp>
        <p:nvSpPr>
          <p:cNvPr id="6" name="TextBox 5">
            <a:extLst>
              <a:ext uri="{FF2B5EF4-FFF2-40B4-BE49-F238E27FC236}">
                <a16:creationId xmlns:a16="http://schemas.microsoft.com/office/drawing/2014/main" id="{FE00FB39-C70D-A2CF-B838-3A5B06E573B2}"/>
              </a:ext>
            </a:extLst>
          </p:cNvPr>
          <p:cNvSpPr txBox="1"/>
          <p:nvPr/>
        </p:nvSpPr>
        <p:spPr>
          <a:xfrm>
            <a:off x="838199" y="1527859"/>
            <a:ext cx="10609163" cy="5078313"/>
          </a:xfrm>
          <a:prstGeom prst="rect">
            <a:avLst/>
          </a:prstGeom>
          <a:noFill/>
        </p:spPr>
        <p:txBody>
          <a:bodyPr wrap="square" rtlCol="0">
            <a:spAutoFit/>
          </a:bodyPr>
          <a:lstStyle/>
          <a:p>
            <a:r>
              <a:rPr lang="en-US" dirty="0"/>
              <a:t>There are three main types of data warehouse:</a:t>
            </a:r>
          </a:p>
          <a:p>
            <a:pPr algn="just"/>
            <a:br>
              <a:rPr lang="en-US" b="1" dirty="0">
                <a:solidFill>
                  <a:schemeClr val="accent1">
                    <a:lumMod val="75000"/>
                  </a:schemeClr>
                </a:solidFill>
              </a:rPr>
            </a:br>
            <a:r>
              <a:rPr lang="en-US" b="1" dirty="0">
                <a:solidFill>
                  <a:schemeClr val="accent1">
                    <a:lumMod val="75000"/>
                  </a:schemeClr>
                </a:solidFill>
              </a:rPr>
              <a:t>Enterprise Data Warehouse (EDW)</a:t>
            </a:r>
          </a:p>
          <a:p>
            <a:pPr algn="just"/>
            <a:r>
              <a:rPr lang="en-US" dirty="0"/>
              <a:t>This type of warehouse serves as a key or central database that facilitates decision-support services throughout the enterprise. The advantage to this type of warehouse is that it provides access to cross-organizational information, offers a unified approach to data representation, and allows running complex queries. </a:t>
            </a:r>
          </a:p>
          <a:p>
            <a:pPr algn="just"/>
            <a:endParaRPr lang="en-US" dirty="0"/>
          </a:p>
          <a:p>
            <a:pPr algn="just"/>
            <a:r>
              <a:rPr lang="en-US" b="1" dirty="0">
                <a:solidFill>
                  <a:schemeClr val="accent1">
                    <a:lumMod val="75000"/>
                  </a:schemeClr>
                </a:solidFill>
              </a:rPr>
              <a:t>Operational Data Store (ODS)</a:t>
            </a:r>
          </a:p>
          <a:p>
            <a:pPr algn="just"/>
            <a:r>
              <a:rPr lang="en-US" dirty="0"/>
              <a:t>This type of data warehouse refreshes in real-time. It is often preferred for routine activities like storing employee records. It is required when data warehouse systems do not support reporting </a:t>
            </a:r>
          </a:p>
          <a:p>
            <a:pPr algn="just"/>
            <a:r>
              <a:rPr lang="en-US" dirty="0"/>
              <a:t>needs of the business.</a:t>
            </a:r>
          </a:p>
          <a:p>
            <a:pPr algn="just"/>
            <a:endParaRPr lang="en-US" dirty="0"/>
          </a:p>
          <a:p>
            <a:pPr algn="just"/>
            <a:r>
              <a:rPr lang="en-US" b="1" dirty="0">
                <a:solidFill>
                  <a:schemeClr val="accent1">
                    <a:lumMod val="75000"/>
                  </a:schemeClr>
                </a:solidFill>
              </a:rPr>
              <a:t>Data Mart</a:t>
            </a:r>
          </a:p>
          <a:p>
            <a:pPr algn="just"/>
            <a:r>
              <a:rPr lang="en-US" dirty="0"/>
              <a:t>A data mart is a subset of a data warehouse built to maintain a particular department, region, or business unit. </a:t>
            </a:r>
          </a:p>
          <a:p>
            <a:pPr algn="just"/>
            <a:r>
              <a:rPr lang="en-US" dirty="0"/>
              <a:t>Every department of a business has a central repository or data mart to store data. </a:t>
            </a:r>
          </a:p>
          <a:p>
            <a:pPr algn="just"/>
            <a:r>
              <a:rPr lang="en-US" dirty="0"/>
              <a:t>The data from the data mart is stored in the ODS periodically. The ODS then sends the data to the EDW, </a:t>
            </a:r>
          </a:p>
          <a:p>
            <a:pPr algn="just"/>
            <a:r>
              <a:rPr lang="en-US" dirty="0"/>
              <a:t>where it is stored and used. </a:t>
            </a:r>
            <a:r>
              <a:rPr lang="en-US" b="0" i="0" dirty="0">
                <a:solidFill>
                  <a:srgbClr val="51565E"/>
                </a:solidFill>
                <a:effectLst/>
                <a:latin typeface="Roboto" panose="02000000000000000000" pitchFamily="2" charset="0"/>
              </a:rPr>
              <a:t> </a:t>
            </a:r>
          </a:p>
          <a:p>
            <a:endParaRPr lang="en-PS" dirty="0"/>
          </a:p>
        </p:txBody>
      </p:sp>
    </p:spTree>
    <p:extLst>
      <p:ext uri="{BB962C8B-B14F-4D97-AF65-F5344CB8AC3E}">
        <p14:creationId xmlns:p14="http://schemas.microsoft.com/office/powerpoint/2010/main" val="4014719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1A8CE-EE24-290B-74AF-5461CF9884F7}"/>
              </a:ext>
            </a:extLst>
          </p:cNvPr>
          <p:cNvSpPr>
            <a:spLocks noGrp="1"/>
          </p:cNvSpPr>
          <p:nvPr>
            <p:ph type="title"/>
          </p:nvPr>
        </p:nvSpPr>
        <p:spPr/>
        <p:txBody>
          <a:bodyPr/>
          <a:lstStyle/>
          <a:p>
            <a:r>
              <a:rPr lang="en-PS" b="1" dirty="0">
                <a:latin typeface="Franklin Gothic Medium" panose="020B0603020102020204" pitchFamily="34" charset="0"/>
              </a:rPr>
              <a:t>Database vs. Data Warehouse</a:t>
            </a:r>
          </a:p>
        </p:txBody>
      </p:sp>
      <p:sp>
        <p:nvSpPr>
          <p:cNvPr id="5" name="TextBox 4">
            <a:extLst>
              <a:ext uri="{FF2B5EF4-FFF2-40B4-BE49-F238E27FC236}">
                <a16:creationId xmlns:a16="http://schemas.microsoft.com/office/drawing/2014/main" id="{F8D07BC6-DBC5-C64B-0C6D-905B2171CB58}"/>
              </a:ext>
            </a:extLst>
          </p:cNvPr>
          <p:cNvSpPr txBox="1"/>
          <p:nvPr/>
        </p:nvSpPr>
        <p:spPr>
          <a:xfrm>
            <a:off x="838200" y="3022591"/>
            <a:ext cx="10863805" cy="1200329"/>
          </a:xfrm>
          <a:prstGeom prst="rect">
            <a:avLst/>
          </a:prstGeom>
          <a:noFill/>
          <a:ln>
            <a:solidFill>
              <a:srgbClr val="FF0000"/>
            </a:solidFill>
          </a:ln>
        </p:spPr>
        <p:txBody>
          <a:bodyPr wrap="square">
            <a:spAutoFit/>
          </a:bodyPr>
          <a:lstStyle/>
          <a:p>
            <a:r>
              <a:rPr lang="en-PS" dirty="0"/>
              <a:t>Although a data warehouse and a traditional database share some similarities, they need not be the same idea.</a:t>
            </a:r>
          </a:p>
          <a:p>
            <a:r>
              <a:rPr lang="en-PS" dirty="0"/>
              <a:t>The main difference is that in a database, data is collected for multiple transactional purposes. However, in a data warehouse, data is collected on an extensive scale to perform analytics. Databases provide real-time data, while warehouses store data to be accessed for big analytical queries. </a:t>
            </a:r>
          </a:p>
        </p:txBody>
      </p:sp>
    </p:spTree>
    <p:extLst>
      <p:ext uri="{BB962C8B-B14F-4D97-AF65-F5344CB8AC3E}">
        <p14:creationId xmlns:p14="http://schemas.microsoft.com/office/powerpoint/2010/main" val="2489679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AC0A7-807D-12CC-A165-8E4CC714DE81}"/>
              </a:ext>
            </a:extLst>
          </p:cNvPr>
          <p:cNvSpPr>
            <a:spLocks noGrp="1"/>
          </p:cNvSpPr>
          <p:nvPr>
            <p:ph type="title"/>
          </p:nvPr>
        </p:nvSpPr>
        <p:spPr>
          <a:xfrm>
            <a:off x="838200" y="365125"/>
            <a:ext cx="10515600" cy="583999"/>
          </a:xfrm>
        </p:spPr>
        <p:txBody>
          <a:bodyPr>
            <a:normAutofit fontScale="90000"/>
          </a:bodyPr>
          <a:lstStyle/>
          <a:p>
            <a:pPr algn="ctr"/>
            <a:r>
              <a:rPr lang="en-PS" sz="3600" dirty="0"/>
              <a:t>End of the </a:t>
            </a:r>
            <a:r>
              <a:rPr lang="en-US" sz="3600" dirty="0"/>
              <a:t>Lecture # 1</a:t>
            </a:r>
            <a:r>
              <a:rPr lang="en-PS" sz="3600" dirty="0"/>
              <a:t> </a:t>
            </a:r>
          </a:p>
        </p:txBody>
      </p:sp>
      <p:sp>
        <p:nvSpPr>
          <p:cNvPr id="3" name="Content Placeholder 2">
            <a:extLst>
              <a:ext uri="{FF2B5EF4-FFF2-40B4-BE49-F238E27FC236}">
                <a16:creationId xmlns:a16="http://schemas.microsoft.com/office/drawing/2014/main" id="{E368E6D7-E71B-47F7-6237-1F32502DE1C6}"/>
              </a:ext>
            </a:extLst>
          </p:cNvPr>
          <p:cNvSpPr>
            <a:spLocks noGrp="1"/>
          </p:cNvSpPr>
          <p:nvPr>
            <p:ph idx="1"/>
          </p:nvPr>
        </p:nvSpPr>
        <p:spPr/>
        <p:txBody>
          <a:bodyPr>
            <a:normAutofit/>
          </a:bodyPr>
          <a:lstStyle/>
          <a:p>
            <a:pPr marL="0" indent="0">
              <a:buNone/>
            </a:pPr>
            <a:r>
              <a:rPr lang="en-PS" sz="4400" b="1" dirty="0"/>
              <a:t>Qustions ?? </a:t>
            </a:r>
            <a:r>
              <a:rPr lang="en-PS" sz="1200" dirty="0"/>
              <a:t>(5mins)</a:t>
            </a:r>
          </a:p>
          <a:p>
            <a:pPr marL="0" indent="0">
              <a:buNone/>
            </a:pPr>
            <a:r>
              <a:rPr lang="en-PS" sz="4400" b="1" dirty="0"/>
              <a:t>Open </a:t>
            </a:r>
            <a:r>
              <a:rPr lang="en-US" sz="4400" b="1" dirty="0"/>
              <a:t>Discussion</a:t>
            </a:r>
            <a:r>
              <a:rPr lang="en-PS" sz="1200" b="1" dirty="0"/>
              <a:t>  </a:t>
            </a:r>
            <a:r>
              <a:rPr lang="en-PS" sz="1200" dirty="0"/>
              <a:t>(3mins)</a:t>
            </a:r>
          </a:p>
          <a:p>
            <a:pPr marL="0" indent="0">
              <a:buNone/>
            </a:pPr>
            <a:endParaRPr lang="en-PS" sz="1100" dirty="0"/>
          </a:p>
          <a:p>
            <a:pPr marL="0" indent="0">
              <a:buNone/>
            </a:pPr>
            <a:endParaRPr lang="ar-SA" sz="6600" b="1" dirty="0"/>
          </a:p>
          <a:p>
            <a:pPr marL="0" indent="0">
              <a:buNone/>
            </a:pPr>
            <a:r>
              <a:rPr lang="en-US" sz="2400" dirty="0"/>
              <a:t>The next Lecture will be : </a:t>
            </a:r>
          </a:p>
          <a:p>
            <a:pPr marL="0" indent="0">
              <a:buNone/>
            </a:pPr>
            <a:r>
              <a:rPr lang="en-US" sz="2000" dirty="0"/>
              <a:t>Data Warehousing Architecture and Components</a:t>
            </a:r>
          </a:p>
        </p:txBody>
      </p:sp>
      <p:pic>
        <p:nvPicPr>
          <p:cNvPr id="4" name="Picture 2" descr="8,200+ Exhaustion Icon Illustrations, Royalty-Free Vector Graphics &amp; Clip  Art - iStock | Heat exhaustion icon">
            <a:extLst>
              <a:ext uri="{FF2B5EF4-FFF2-40B4-BE49-F238E27FC236}">
                <a16:creationId xmlns:a16="http://schemas.microsoft.com/office/drawing/2014/main" id="{F7AB0F0C-3A28-644F-9101-4B804BCFC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6710" y="4001294"/>
            <a:ext cx="1546519" cy="17171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loud computing Pixel Perfect Flat icon">
            <a:extLst>
              <a:ext uri="{FF2B5EF4-FFF2-40B4-BE49-F238E27FC236}">
                <a16:creationId xmlns:a16="http://schemas.microsoft.com/office/drawing/2014/main" id="{A0D3B8D9-7FBE-D24C-C229-EB332ACE28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7059" y="763809"/>
            <a:ext cx="4299302" cy="4299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068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222</TotalTime>
  <Words>1780</Words>
  <Application>Microsoft Macintosh PowerPoint</Application>
  <PresentationFormat>Widescreen</PresentationFormat>
  <Paragraphs>197</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 Rounded MT Bold</vt:lpstr>
      <vt:lpstr>Calibri</vt:lpstr>
      <vt:lpstr>Calibri Light</vt:lpstr>
      <vt:lpstr>Franklin Gothic Medium</vt:lpstr>
      <vt:lpstr>Roboto</vt:lpstr>
      <vt:lpstr>Söhne</vt:lpstr>
      <vt:lpstr>Wingdings</vt:lpstr>
      <vt:lpstr>Office Theme</vt:lpstr>
      <vt:lpstr>Data Warehouses </vt:lpstr>
      <vt:lpstr>Agenda </vt:lpstr>
      <vt:lpstr>Introduction </vt:lpstr>
      <vt:lpstr>Introduction</vt:lpstr>
      <vt:lpstr>Historical Perspective - Inmon and Kimball</vt:lpstr>
      <vt:lpstr>Historical Perspective - Inmon and Kimball</vt:lpstr>
      <vt:lpstr>Historical Perspective - Inmon and Kimball</vt:lpstr>
      <vt:lpstr>Introduction</vt:lpstr>
      <vt:lpstr>Introduction </vt:lpstr>
      <vt:lpstr>Introduction </vt:lpstr>
      <vt:lpstr>PowerPoint Presentation</vt:lpstr>
      <vt:lpstr>ETL and ELT Concepts </vt:lpstr>
      <vt:lpstr>ETL and ELT Concepts </vt:lpstr>
      <vt:lpstr>Staging Area Concept </vt:lpstr>
      <vt:lpstr>Data lake and Data warehouse  Differences  </vt:lpstr>
      <vt:lpstr>OLAP vs OLTP</vt:lpstr>
      <vt:lpstr>OLAP vs OLTP</vt:lpstr>
      <vt:lpstr>Data Warehousing Types </vt:lpstr>
      <vt:lpstr>Database vs. Data Warehouse</vt:lpstr>
      <vt:lpstr>End of the Lecture # 1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Warehouses </dc:title>
  <dc:creator>Microsoft Office User</dc:creator>
  <cp:lastModifiedBy>Microsoft Office User</cp:lastModifiedBy>
  <cp:revision>51</cp:revision>
  <dcterms:created xsi:type="dcterms:W3CDTF">2023-09-22T12:22:46Z</dcterms:created>
  <dcterms:modified xsi:type="dcterms:W3CDTF">2023-09-26T10:38:03Z</dcterms:modified>
</cp:coreProperties>
</file>
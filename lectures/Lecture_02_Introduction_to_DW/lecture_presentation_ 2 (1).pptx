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59" r:id="rId11"/>
    <p:sldId id="260" r:id="rId12"/>
    <p:sldId id="282" r:id="rId13"/>
    <p:sldId id="264" r:id="rId14"/>
    <p:sldId id="283" r:id="rId15"/>
    <p:sldId id="265" r:id="rId16"/>
    <p:sldId id="266" r:id="rId17"/>
    <p:sldId id="267" r:id="rId18"/>
    <p:sldId id="268" r:id="rId19"/>
    <p:sldId id="269" r:id="rId20"/>
    <p:sldId id="270" r:id="rId21"/>
    <p:sldId id="284" r:id="rId22"/>
    <p:sldId id="273" r:id="rId23"/>
    <p:sldId id="271" r:id="rId24"/>
    <p:sldId id="272" r:id="rId25"/>
    <p:sldId id="285" r:id="rId26"/>
    <p:sldId id="257" r:id="rId27"/>
  </p:sldIdLst>
  <p:sldSz cx="12192000" cy="6858000"/>
  <p:notesSz cx="6858000" cy="9144000"/>
  <p:defaultTextStyle>
    <a:defPPr>
      <a:defRPr lang="en-P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6341"/>
  </p:normalViewPr>
  <p:slideViewPr>
    <p:cSldViewPr snapToGrid="0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846E9-68B8-EA45-9456-DA87A961A1A7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7D8B1-BA64-8941-84A3-1DD8FE08833A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2063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Unnormalized Table:</a:t>
            </a:r>
            <a:r>
              <a:rPr lang="en-US" dirty="0"/>
              <a:t> Contains repeated columns (Product1, Product2, Product3), leading to redundancy and a rigid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Normalized Tables: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Orders</a:t>
            </a:r>
            <a:r>
              <a:rPr lang="en-US" dirty="0"/>
              <a:t> table holds general order information 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CustomerName</a:t>
            </a:r>
            <a:r>
              <a:rPr lang="en-US" dirty="0"/>
              <a:t>, </a:t>
            </a:r>
            <a:r>
              <a:rPr lang="en-US" dirty="0" err="1"/>
              <a:t>TotalAmount</a:t>
            </a:r>
            <a:r>
              <a:rPr lang="en-U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/>
              <a:t>OrderDetails</a:t>
            </a:r>
            <a:r>
              <a:rPr lang="en-US" dirty="0"/>
              <a:t> table stores individual product details for each order, creating a many-to-one relationship with the Orders table.</a:t>
            </a:r>
          </a:p>
          <a:p>
            <a:endParaRPr lang="en-P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7D8B1-BA64-8941-84A3-1DD8FE08833A}" type="slidenum">
              <a:rPr lang="en-PS" smtClean="0"/>
              <a:t>4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954460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116F-2DC1-39A9-FEE7-5C9459C82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EF245-BEBE-2985-E172-51DBB0EDB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412E-2BB5-9BB6-6FA5-273672DC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017E8-B9D0-6A37-AFD4-905B1415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1B8A8-B251-25BB-FA14-B5E04189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90613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0D3A-AA7F-FB7E-988D-77337AE7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5C454-941F-B930-742B-1BA5FCA01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1D296-748B-A3F6-171B-F468D718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7BE8-7D8C-AEA2-4C05-C05BE5F9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C1FEA-565C-B3FF-71C5-2634D54F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3452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C6B5-AA94-D55C-8F0C-AE3AF4AC2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5FD28-CC92-3FA3-9039-9D2C79602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17939-2B1C-1869-9F8B-EACC62D7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3F257-CC27-F473-4924-2D5B29290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78EC8-4593-0CBF-60BD-0DC0134C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12644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5F37-61B9-432E-93D4-C3131C20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A2A57-1B0C-9D0A-EBCC-BDC8B9DAA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8D3BD-666D-C4AF-EB6F-1C84B2E8E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1E797-CCAA-8AA9-9853-256C578D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82753-4BBE-6B6E-4EC0-56BAE5A2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0A403-5CF3-D7EC-A347-6E13785BC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82879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5614-3AA2-15FA-2A40-781E2A37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CB484-81B4-B63C-9F43-DF47A39E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33228-9352-7327-DE58-E2167C468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F46C4-024F-E40B-2106-A81379DFE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6808C-C2D6-191D-5730-65CBC90EC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DD13E1-FA14-4569-6DD0-2146A83D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7F1AF-7C04-B164-F19C-7535874C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DD307-E258-DCD0-7FAE-59F2E25E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68737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385F-75B6-8E50-453D-6BCF6754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967B1-397D-40A0-E6CF-647721584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39F43-04D5-A725-B1A2-40DBF14A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5F842-471A-E75A-6901-6C31C187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05799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2E431-58BE-3FF9-25EC-E9D7669B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86CD7-4889-84FE-AE60-586AF6EB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37453-20A8-0228-FBEF-3C8BA48F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59015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602A-1B41-D344-C2F6-4530AFF03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656E3-8554-128D-996B-69E4C3267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700DF-FCCE-C505-8B80-22EA95B75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9B075-2C05-E235-5FF9-126A7F9A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683A4-5855-C5CA-FA6B-8778E856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53CDE-6337-1DC0-B40E-FD93D427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419972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AE49-7B7F-3096-446E-0EB8A129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43EBD-7D8F-3843-BEB5-17EE2927B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E7C1-8457-E844-D049-B363C5934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29A7B-F38F-C711-78DD-844A36D9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2B517-C0F7-8513-7B1F-9DD69F63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3B589-7B28-5697-21D5-8233D405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36180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5446-1BF5-4483-63EA-266EB69A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70831-352E-33B6-D160-CA9DD314C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35E2E-3068-60CB-0FED-4549D8D7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E9ADA-CCCE-19C7-3E1B-94AA6D5C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65E2D-8FF6-CE4E-9E2F-9EE92FFD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85511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93289C-13B2-DA76-5A9A-1C3C889E6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0E685-DA36-7756-CF5F-DE1E247D4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AA3CB-FC94-9A19-1A5B-4D93AC1B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591A9-B03E-EEE3-03A8-E52A5F38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4DCDA-660E-F5F2-1AD8-D351EA47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58653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5BD60-AA0F-B1F7-18AE-02CF277A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91285-A056-383E-88FD-75B19F4A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CBB4-03DE-9D90-F6F2-F03CA19B5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41088-AF94-244B-AF08-471229A76134}" type="datetimeFigureOut">
              <a:rPr lang="en-PS" smtClean="0"/>
              <a:t>20/11/2024</a:t>
            </a:fld>
            <a:endParaRPr lang="en-P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4F281-45D0-A252-FCCE-4E7DC1BF6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29075-A908-CDDA-5329-20C27DC19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B01FF-E6D0-D14F-AD6B-9DA0029EF074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70430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E1DC9-FA08-D455-91D4-D60B9B360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253" y="1378864"/>
            <a:ext cx="9144000" cy="1160302"/>
          </a:xfrm>
        </p:spPr>
        <p:txBody>
          <a:bodyPr/>
          <a:lstStyle/>
          <a:p>
            <a:r>
              <a:rPr lang="en-PS" b="1" dirty="0">
                <a:latin typeface="Arial Rounded MT Bold" panose="020F0704030504030204" pitchFamily="34" charset="77"/>
              </a:rPr>
              <a:t>Data Warehouses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785E3-0FC2-399D-C399-B0EBCFB65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61198"/>
            <a:ext cx="9144000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/>
              <a:t>Lecture # 2</a:t>
            </a:r>
          </a:p>
          <a:p>
            <a:pPr algn="l"/>
            <a:r>
              <a:rPr lang="en-PS" b="1" dirty="0"/>
              <a:t>Topic :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Dimensional Modeling</a:t>
            </a:r>
            <a:endParaRPr lang="en-PS" b="1" dirty="0"/>
          </a:p>
          <a:p>
            <a:pPr algn="l"/>
            <a:r>
              <a:rPr lang="en-PS" b="1" dirty="0"/>
              <a:t>Prepared by: </a:t>
            </a:r>
            <a:r>
              <a:rPr lang="en-P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Basem Khalaf </a:t>
            </a:r>
          </a:p>
          <a:p>
            <a:pPr algn="l"/>
            <a:r>
              <a:rPr lang="en-P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Semster-1 , Level-3</a:t>
            </a:r>
          </a:p>
          <a:p>
            <a:pPr algn="l"/>
            <a:r>
              <a:rPr lang="en-P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Fall 2023 </a:t>
            </a:r>
          </a:p>
        </p:txBody>
      </p:sp>
      <p:pic>
        <p:nvPicPr>
          <p:cNvPr id="1030" name="Picture 6" descr="No photo description available.">
            <a:extLst>
              <a:ext uri="{FF2B5EF4-FFF2-40B4-BE49-F238E27FC236}">
                <a16:creationId xmlns:a16="http://schemas.microsoft.com/office/drawing/2014/main" id="{A1ED1E73-98B8-2AB5-0DF1-279CF21B9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12006"/>
            <a:ext cx="1524000" cy="164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26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2AE5-0805-7D14-95DE-38CBC3D44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580"/>
            <a:ext cx="10515600" cy="3094718"/>
          </a:xfrm>
        </p:spPr>
        <p:txBody>
          <a:bodyPr>
            <a:normAutofit/>
          </a:bodyPr>
          <a:lstStyle/>
          <a:p>
            <a:r>
              <a:rPr lang="en-US" dirty="0"/>
              <a:t>Normalization and De-Normalization</a:t>
            </a:r>
          </a:p>
          <a:p>
            <a:r>
              <a:rPr lang="en-US" dirty="0"/>
              <a:t>Dimensional Modeling vs. Entity-Relationship Modeling</a:t>
            </a:r>
          </a:p>
          <a:p>
            <a:r>
              <a:rPr lang="en-US" dirty="0"/>
              <a:t>Dimensional Modeling Concepts and Principles</a:t>
            </a:r>
          </a:p>
          <a:p>
            <a:r>
              <a:rPr lang="en-US" dirty="0"/>
              <a:t>DM- Fact Tables and Dimension Tables</a:t>
            </a:r>
          </a:p>
          <a:p>
            <a:r>
              <a:rPr lang="en-US" dirty="0"/>
              <a:t>Star and Snowflake Schemas</a:t>
            </a:r>
          </a:p>
          <a:p>
            <a:r>
              <a:rPr lang="en-US" dirty="0"/>
              <a:t>Slowly Changing Dimensions (SCD) Techniques</a:t>
            </a:r>
            <a:endParaRPr lang="en-P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8E5477-4549-9207-53C7-7C313F26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PS" b="1" dirty="0">
                <a:latin typeface="Franklin Gothic Medium" panose="020B0603020102020204" pitchFamily="34" charset="0"/>
              </a:rPr>
              <a:t>Agenda </a:t>
            </a:r>
          </a:p>
        </p:txBody>
      </p:sp>
    </p:spTree>
    <p:extLst>
      <p:ext uri="{BB962C8B-B14F-4D97-AF65-F5344CB8AC3E}">
        <p14:creationId xmlns:p14="http://schemas.microsoft.com/office/powerpoint/2010/main" val="329691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4C112-D424-50F8-8B74-2765288F8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98" y="1340763"/>
            <a:ext cx="10515600" cy="4788001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database design technique to reduce redundancy and dependency by organizing data into smaller, related tables.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Goals of Normalization: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Minimize data redundancy.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Ensure data integrity and consistency.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Efficiently manage updates, inserts, and deletions.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Forms of Normalization (Common Levels):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1NF (First Normal Form): Eliminate repeating groups.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2NF (Second Normal Form): Remove partial dependencies.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3NF (Third Normal Form): Eliminate transitive dependencies.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885108-DC45-5145-EA13-6D6B9249082F}"/>
              </a:ext>
            </a:extLst>
          </p:cNvPr>
          <p:cNvSpPr txBox="1">
            <a:spLocks/>
          </p:cNvSpPr>
          <p:nvPr/>
        </p:nvSpPr>
        <p:spPr>
          <a:xfrm>
            <a:off x="664098" y="1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Söhne"/>
              </a:rPr>
              <a:t>Normalization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74477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900F700-245B-68C8-1B29-C247BEDC37AF}"/>
              </a:ext>
            </a:extLst>
          </p:cNvPr>
          <p:cNvSpPr/>
          <p:nvPr/>
        </p:nvSpPr>
        <p:spPr>
          <a:xfrm>
            <a:off x="838200" y="1038942"/>
            <a:ext cx="10515600" cy="17804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D48509-832C-8F50-990A-7D365F958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4031" y="1067814"/>
            <a:ext cx="7055734" cy="165902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B06F5-9764-916C-974F-2ADD7E687E84}"/>
              </a:ext>
            </a:extLst>
          </p:cNvPr>
          <p:cNvSpPr txBox="1"/>
          <p:nvPr/>
        </p:nvSpPr>
        <p:spPr>
          <a:xfrm>
            <a:off x="7264803" y="698482"/>
            <a:ext cx="6099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Unnormalized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CA52F7-3570-3DCF-653F-FE6E907C2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39" y="3066439"/>
            <a:ext cx="7094316" cy="1332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81AC2A-D63F-A992-0014-F9C117DA3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857" y="4496828"/>
            <a:ext cx="6814732" cy="211899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4FA840D-1A0A-C5AB-FD24-E429D41A4405}"/>
              </a:ext>
            </a:extLst>
          </p:cNvPr>
          <p:cNvSpPr txBox="1">
            <a:spLocks/>
          </p:cNvSpPr>
          <p:nvPr/>
        </p:nvSpPr>
        <p:spPr>
          <a:xfrm>
            <a:off x="664098" y="1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Söhne"/>
              </a:rPr>
              <a:t>Normalization</a:t>
            </a:r>
            <a:endParaRPr lang="en-P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9ABDF2-5A1B-D859-9DDC-01DA7CE90F90}"/>
              </a:ext>
            </a:extLst>
          </p:cNvPr>
          <p:cNvCxnSpPr/>
          <p:nvPr/>
        </p:nvCxnSpPr>
        <p:spPr>
          <a:xfrm flipH="1">
            <a:off x="8229600" y="2819399"/>
            <a:ext cx="446314" cy="60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7A20B4-C53A-2E58-426D-4926E7CEB1CC}"/>
              </a:ext>
            </a:extLst>
          </p:cNvPr>
          <p:cNvCxnSpPr/>
          <p:nvPr/>
        </p:nvCxnSpPr>
        <p:spPr>
          <a:xfrm flipH="1">
            <a:off x="9449765" y="2819399"/>
            <a:ext cx="118778" cy="1894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6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2F453-8452-4BBB-1041-814696CAB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98" y="1499054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</a:p>
          <a:p>
            <a:pPr marL="0" indent="0">
              <a:buNone/>
            </a:pPr>
            <a:r>
              <a:rPr lang="en-US" dirty="0"/>
              <a:t>A database optimization technique where normalized tables are combined for performance improvements.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Reduce complex joins.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Speed up query execution in analytical and reporting systems.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When to Use Denormalization: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data warehouses or OLAP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query performance is more critical than storage efficiency.</a:t>
            </a:r>
          </a:p>
          <a:p>
            <a:pPr marL="0" indent="0">
              <a:buNone/>
            </a:pPr>
            <a:endParaRPr lang="en-P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67A936-5003-BD24-C71C-F84CFF5529F8}"/>
              </a:ext>
            </a:extLst>
          </p:cNvPr>
          <p:cNvSpPr txBox="1">
            <a:spLocks/>
          </p:cNvSpPr>
          <p:nvPr/>
        </p:nvSpPr>
        <p:spPr>
          <a:xfrm>
            <a:off x="664098" y="1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Söhne"/>
              </a:rPr>
              <a:t>Denormalization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352855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AF1775-93AB-AF97-E7C8-52F177D0D981}"/>
              </a:ext>
            </a:extLst>
          </p:cNvPr>
          <p:cNvSpPr/>
          <p:nvPr/>
        </p:nvSpPr>
        <p:spPr>
          <a:xfrm>
            <a:off x="472967" y="973570"/>
            <a:ext cx="11204026" cy="5658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FFAF6-7E58-5DBE-8BBD-E8234D54D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6923" y="1015550"/>
            <a:ext cx="6119145" cy="39932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04006F-CE8A-10E1-03AF-7D469D82F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923" y="5050814"/>
            <a:ext cx="6119145" cy="14712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7BB2023-08D7-FC26-5F24-1C67F3B22812}"/>
              </a:ext>
            </a:extLst>
          </p:cNvPr>
          <p:cNvSpPr txBox="1">
            <a:spLocks/>
          </p:cNvSpPr>
          <p:nvPr/>
        </p:nvSpPr>
        <p:spPr>
          <a:xfrm>
            <a:off x="664098" y="1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Söhne"/>
              </a:rPr>
              <a:t>Denormalization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390296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A90158-F325-B612-CA17-E053F049F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098" y="2013425"/>
            <a:ext cx="10796115" cy="336624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A25E99C-38D1-C342-48D0-ADB2BEDEA228}"/>
              </a:ext>
            </a:extLst>
          </p:cNvPr>
          <p:cNvSpPr txBox="1">
            <a:spLocks/>
          </p:cNvSpPr>
          <p:nvPr/>
        </p:nvSpPr>
        <p:spPr>
          <a:xfrm>
            <a:off x="664098" y="1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Söhne"/>
              </a:rPr>
              <a:t>Denormalization</a:t>
            </a: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170319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623960-DF44-867D-9E08-00FA679FF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804" y="2081461"/>
            <a:ext cx="11468391" cy="3294443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568792-84D6-4C81-3DF1-477ABB8EBD92}"/>
              </a:ext>
            </a:extLst>
          </p:cNvPr>
          <p:cNvSpPr txBox="1">
            <a:spLocks/>
          </p:cNvSpPr>
          <p:nvPr/>
        </p:nvSpPr>
        <p:spPr>
          <a:xfrm>
            <a:off x="664098" y="152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S" sz="3600" b="1" dirty="0">
                <a:latin typeface="Söhne"/>
              </a:rPr>
              <a:t>Normalization and Denormlization : Key differ</a:t>
            </a:r>
            <a:r>
              <a:rPr lang="en-US" sz="3600" b="1" dirty="0">
                <a:latin typeface="Söhne"/>
              </a:rPr>
              <a:t>e</a:t>
            </a:r>
            <a:r>
              <a:rPr lang="en-PS" sz="3600" b="1" dirty="0">
                <a:latin typeface="Söhne"/>
              </a:rPr>
              <a:t>nces </a:t>
            </a:r>
          </a:p>
        </p:txBody>
      </p:sp>
    </p:spTree>
    <p:extLst>
      <p:ext uri="{BB962C8B-B14F-4D97-AF65-F5344CB8AC3E}">
        <p14:creationId xmlns:p14="http://schemas.microsoft.com/office/powerpoint/2010/main" val="373484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FB46-468F-5026-5DE0-766C6D736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284" y="122319"/>
            <a:ext cx="9052034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Söhne"/>
              </a:rPr>
              <a:t>Benefits and Challenges of</a:t>
            </a:r>
            <a:br>
              <a:rPr lang="en-US" sz="3600" b="1" dirty="0">
                <a:latin typeface="Söhne"/>
              </a:rPr>
            </a:br>
            <a:r>
              <a:rPr lang="en-US" sz="3600" b="1" dirty="0">
                <a:latin typeface="Söhne"/>
              </a:rPr>
              <a:t>Normalization &amp; Denormalization</a:t>
            </a:r>
            <a:endParaRPr lang="en-PS" sz="3600" b="1" dirty="0">
              <a:latin typeface="Söhn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EE735-A91D-96B1-0BE4-BB88D21BD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84" y="180460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Normalization: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Efficient use of storage.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Ensures consistency and eliminates anomalies.</a:t>
            </a:r>
          </a:p>
          <a:p>
            <a:r>
              <a:rPr lang="en-US" b="1" dirty="0"/>
              <a:t>Challenges: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Slower query performance due to joins.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Denormalization: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Improved query performance.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Simplified schema for reporting.</a:t>
            </a:r>
          </a:p>
          <a:p>
            <a:r>
              <a:rPr lang="en-US" b="1" dirty="0"/>
              <a:t>Challenges: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Increases storage requirements.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Risk of data anomalies due to redundancy.</a:t>
            </a:r>
          </a:p>
          <a:p>
            <a:pPr marL="0" indent="0">
              <a:buNone/>
            </a:pP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110907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7979-99C2-1260-F7B4-E5976B61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431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öhne"/>
              </a:rPr>
              <a:t>Dimensional Modeling vs. Entity-Relationship Modeling</a:t>
            </a:r>
            <a:br>
              <a:rPr lang="en-US" sz="3200" dirty="0"/>
            </a:br>
            <a:endParaRPr lang="en-P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0B0C-AABA-FB83-3FAE-7C0B781E4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248"/>
            <a:ext cx="10515600" cy="39834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Definition of Dimensional Modeling (DM):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Focused on analytical querying and reporting.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Optimized for high-performance data retrieval in Data Warehouses.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Star or Snowflake schemas with Fact and Dimension tables.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Definition of Entity-Relationship Modeling (ERM):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Focused on capturing detailed transactional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Used in operational databases.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Normalized schemas to avoid redundancy.</a:t>
            </a:r>
          </a:p>
          <a:p>
            <a:pPr marL="0" indent="0">
              <a:buNone/>
            </a:pPr>
            <a:endParaRPr lang="en-PS" dirty="0"/>
          </a:p>
        </p:txBody>
      </p:sp>
      <p:pic>
        <p:nvPicPr>
          <p:cNvPr id="1026" name="Picture 2" descr="Star Schema Icons - Free SVG &amp; PNG Star Schema Images - Noun Project">
            <a:extLst>
              <a:ext uri="{FF2B5EF4-FFF2-40B4-BE49-F238E27FC236}">
                <a16:creationId xmlns:a16="http://schemas.microsoft.com/office/drawing/2014/main" id="{34D3DE73-030D-F42B-3069-80BB1A7E5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673" y="1294647"/>
            <a:ext cx="1999338" cy="199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RDiagramsInDBMS_1">
            <a:extLst>
              <a:ext uri="{FF2B5EF4-FFF2-40B4-BE49-F238E27FC236}">
                <a16:creationId xmlns:a16="http://schemas.microsoft.com/office/drawing/2014/main" id="{91F514FC-C47A-E7FE-2C69-9501FC47F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14263"/>
            <a:ext cx="4385749" cy="244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E829-B719-0434-7030-C45B71116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22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Söhne"/>
              </a:rPr>
              <a:t>Dimensional Modeling vs. Entity-Relationship Modeling- Key Differences</a:t>
            </a:r>
            <a:br>
              <a:rPr lang="en-US" dirty="0"/>
            </a:br>
            <a:endParaRPr lang="en-P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76A390-5BC7-CFD1-B5F3-8B4B27FB3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313" y="2209430"/>
            <a:ext cx="10970350" cy="3130086"/>
          </a:xfrm>
        </p:spPr>
      </p:pic>
    </p:spTree>
    <p:extLst>
      <p:ext uri="{BB962C8B-B14F-4D97-AF65-F5344CB8AC3E}">
        <p14:creationId xmlns:p14="http://schemas.microsoft.com/office/powerpoint/2010/main" val="2087571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DDEE-D275-A6C2-E8B5-C892F865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525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Söhne"/>
              </a:rPr>
              <a:t>DM vs. ERM : When to Use Each Approach?</a:t>
            </a:r>
            <a:br>
              <a:rPr lang="en-US" dirty="0"/>
            </a:br>
            <a:endParaRPr lang="en-P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58953-623B-09F4-C6B8-4A26001F7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Dimensional Modeling: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Intelligence and Data Warehousing.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aggregation and reporting (e.g., sales analysis).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Entity-Relationship Modeling: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Operational databases for daily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systems like banking, e-commerce, or CRM.</a:t>
            </a:r>
          </a:p>
          <a:p>
            <a:pPr marL="0" indent="0">
              <a:buNone/>
            </a:pP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108199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764C-FEF0-7F8A-D3B9-00EC0C90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527" y="281014"/>
            <a:ext cx="692894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Söhne"/>
              </a:rPr>
              <a:t>Introduction to Dimensional Modeling</a:t>
            </a:r>
            <a:br>
              <a:rPr lang="en-US" dirty="0"/>
            </a:br>
            <a:endParaRPr lang="en-P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BF89C-E6D7-4252-3A4D-5850493E2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6"/>
            <a:ext cx="10515600" cy="4351338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</a:p>
          <a:p>
            <a:pPr marL="0" indent="0">
              <a:buNone/>
            </a:pPr>
            <a:r>
              <a:rPr lang="en-US" dirty="0"/>
              <a:t>A design technique for data warehouses optimized for analytical queries.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Simple schema design for faster queries (Star/Snowflake).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Focuses on business processes.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Separation of Facts (measurable data) and Dimensions (descriptive attributes).</a:t>
            </a:r>
          </a:p>
          <a:p>
            <a:pPr marL="0" indent="0">
              <a:buNone/>
            </a:pP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4248552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8FAD2-F36D-7368-86DD-9DF957BA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11" y="0"/>
            <a:ext cx="10515600" cy="1325563"/>
          </a:xfrm>
        </p:spPr>
        <p:txBody>
          <a:bodyPr>
            <a:normAutofit/>
          </a:bodyPr>
          <a:lstStyle/>
          <a:p>
            <a:r>
              <a:rPr lang="en-PS" sz="3200" b="1" dirty="0">
                <a:latin typeface="Söhne"/>
              </a:rPr>
              <a:t>Example</a:t>
            </a:r>
          </a:p>
        </p:txBody>
      </p:sp>
      <p:pic>
        <p:nvPicPr>
          <p:cNvPr id="3074" name="Picture 2" descr="Star Schema Design">
            <a:extLst>
              <a:ext uri="{FF2B5EF4-FFF2-40B4-BE49-F238E27FC236}">
                <a16:creationId xmlns:a16="http://schemas.microsoft.com/office/drawing/2014/main" id="{032C0656-7465-9215-D65D-793B6AC235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268" y="1051033"/>
            <a:ext cx="8542119" cy="53419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556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6D86-33B3-0B06-367C-95C19C8B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Söhne"/>
              </a:rPr>
              <a:t>Dimensional Modeling: Fact Tables</a:t>
            </a:r>
            <a:br>
              <a:rPr lang="en-US" dirty="0"/>
            </a:br>
            <a:endParaRPr lang="en-P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4A3B-4D2C-4DF4-803D-993A7EC73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767"/>
            <a:ext cx="10515600" cy="497319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Definition: </a:t>
            </a:r>
            <a:r>
              <a:rPr lang="en-US" sz="2000" dirty="0"/>
              <a:t>Store measurable and quantitative data, typically numeric.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Types of Facts: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Additive: Can be summed across dimensions (e.g., Sales Amount).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Semi-additive: Can be summed partially (e.g., Account Balance).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Non-additive: Cannot be summed (e.g., Ratios).</a:t>
            </a:r>
          </a:p>
          <a:p>
            <a:pPr marL="0" indent="0">
              <a:buNone/>
            </a:pPr>
            <a:endParaRPr lang="en-US" sz="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Characteristics: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Contain foreign keys to Dimensions.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Large and constantly growing.</a:t>
            </a:r>
          </a:p>
          <a:p>
            <a:pPr marL="0" indent="0">
              <a:buNone/>
            </a:pPr>
            <a:endParaRPr lang="en-P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F46520F-C924-FFBC-605A-C70FFA14D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324" y="4445496"/>
            <a:ext cx="5832731" cy="173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8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D045-9896-5618-3047-F7259CD2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054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Söhne"/>
              </a:rPr>
              <a:t>Dimensional Modeling: Dimension Tables</a:t>
            </a:r>
            <a:endParaRPr lang="en-PS" sz="3200" b="1" dirty="0">
              <a:latin typeface="Söhne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E212B6-CA92-3CD8-D13C-9CB46031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638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Definition: </a:t>
            </a:r>
            <a:r>
              <a:rPr lang="en-US" sz="2000" dirty="0"/>
              <a:t>Contain descriptive, textual, or categorical data that adds context to facts.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Key Characteristics: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Typically smaller than Fact tables.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Include attributes for filtering and grouping (e.g., Region, Category, Time Period).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Examples of Dimensions: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Product Dimension: Product ID, Name, Category, Brand.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Time Dimension: Date, Month, Quarter, Year.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Customer Dimension: Customer ID, Name, Location, Segment.</a:t>
            </a:r>
          </a:p>
          <a:p>
            <a:pPr marL="0" indent="0">
              <a:buNone/>
            </a:pPr>
            <a:endParaRPr lang="en-P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D251B-27CC-8A14-82F8-AFD70B2A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600" y="5071234"/>
            <a:ext cx="5181613" cy="155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78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1110-6772-8670-F654-AD6D210A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76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Söhne"/>
              </a:rPr>
              <a:t>Dimensional Modeling: Fact Tables vs. Dimension Tables</a:t>
            </a:r>
            <a:br>
              <a:rPr lang="en-US" dirty="0"/>
            </a:br>
            <a:endParaRPr lang="en-P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8C7F5F-A0B2-D477-42E7-30E94A19E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9341"/>
            <a:ext cx="10440859" cy="2649818"/>
          </a:xfrm>
        </p:spPr>
      </p:pic>
    </p:spTree>
    <p:extLst>
      <p:ext uri="{BB962C8B-B14F-4D97-AF65-F5344CB8AC3E}">
        <p14:creationId xmlns:p14="http://schemas.microsoft.com/office/powerpoint/2010/main" val="1876443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D3EC-9B18-A7D0-E6CB-63B818C0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07212"/>
          </a:xfrm>
        </p:spPr>
        <p:txBody>
          <a:bodyPr/>
          <a:lstStyle/>
          <a:p>
            <a:r>
              <a:rPr lang="en-US" sz="3200" b="1" dirty="0">
                <a:latin typeface="Söhne"/>
              </a:rPr>
              <a:t>Data Model</a:t>
            </a:r>
            <a:endParaRPr lang="en-P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BE3D9-C705-5C85-6E9E-54FF1AB7A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476" y="789085"/>
            <a:ext cx="7772400" cy="583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96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F5FB-5C0C-7054-9FF4-DC9DE58F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1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Söhne"/>
              </a:rPr>
              <a:t>Star Schema</a:t>
            </a:r>
            <a:endParaRPr lang="en-PS" sz="3200" b="1" dirty="0">
              <a:latin typeface="Söhn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DD8E-00F4-34C3-02E7-92F43A756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08" y="1325563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</a:p>
          <a:p>
            <a:pPr marL="0" indent="0">
              <a:buNone/>
            </a:pPr>
            <a:r>
              <a:rPr lang="en-US" sz="2600" dirty="0"/>
              <a:t>A schema design where a central Fact Table is directly connected to multiple Dimension Tables.</a:t>
            </a:r>
          </a:p>
          <a:p>
            <a:pPr marL="0" indent="0">
              <a:buNone/>
            </a:pP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Characteristics: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Simple and intuitive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Faster query performance due to fewer joins.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Denormalized dimensions (redundant data for simplicity).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Case:</a:t>
            </a:r>
          </a:p>
          <a:p>
            <a:pPr marL="0" indent="0">
              <a:buNone/>
            </a:pPr>
            <a:r>
              <a:rPr lang="en-US" dirty="0"/>
              <a:t>Ideal for reporting and analytical workloads with straightforward relationships.</a:t>
            </a:r>
          </a:p>
          <a:p>
            <a:endParaRPr lang="en-PS" dirty="0"/>
          </a:p>
        </p:txBody>
      </p:sp>
      <p:pic>
        <p:nvPicPr>
          <p:cNvPr id="4098" name="Picture 2" descr="Star schema - Wikipedia">
            <a:extLst>
              <a:ext uri="{FF2B5EF4-FFF2-40B4-BE49-F238E27FC236}">
                <a16:creationId xmlns:a16="http://schemas.microsoft.com/office/drawing/2014/main" id="{A28E2818-1F46-76E5-172C-B7212E89C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529" y="2431374"/>
            <a:ext cx="3179685" cy="199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936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CD078-6E84-B776-1AE9-845289AAE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4212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 schema design where Dimension Tables are further normalized into multiple related tables.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Characteristics: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More complex structure compared to Star Schema.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Requires more joins, leading to slower query performance.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Reduces data redundancy by normalizing dimensions.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 Case: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Suitable for scenarios where storage optimization is crucial.</a:t>
            </a:r>
          </a:p>
          <a:p>
            <a:endParaRPr lang="en-P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7D9755-DB82-D609-1009-01F46A03055C}"/>
              </a:ext>
            </a:extLst>
          </p:cNvPr>
          <p:cNvSpPr txBox="1">
            <a:spLocks/>
          </p:cNvSpPr>
          <p:nvPr/>
        </p:nvSpPr>
        <p:spPr>
          <a:xfrm>
            <a:off x="647417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Söhne"/>
              </a:rPr>
              <a:t>Snowflake Schema</a:t>
            </a:r>
            <a:endParaRPr lang="en-PS" sz="3200" b="1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867040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nowflake schema">
            <a:extLst>
              <a:ext uri="{FF2B5EF4-FFF2-40B4-BE49-F238E27FC236}">
                <a16:creationId xmlns:a16="http://schemas.microsoft.com/office/drawing/2014/main" id="{DC0AFD0C-3C0A-844A-83FF-762F14BB43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060" y="537950"/>
            <a:ext cx="9925933" cy="597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867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2E38-01F0-178A-ABF2-631B41CA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097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Söhne"/>
              </a:rPr>
              <a:t>Comparing Star and Snowflake Schemas</a:t>
            </a:r>
            <a:endParaRPr lang="en-PS" sz="3200" b="1" dirty="0">
              <a:latin typeface="Söhne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4495A4-7E25-143E-B7ED-D05B40093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911" y="1923392"/>
            <a:ext cx="10020177" cy="3565801"/>
          </a:xfrm>
        </p:spPr>
      </p:pic>
    </p:spTree>
    <p:extLst>
      <p:ext uri="{BB962C8B-B14F-4D97-AF65-F5344CB8AC3E}">
        <p14:creationId xmlns:p14="http://schemas.microsoft.com/office/powerpoint/2010/main" val="4014719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C3F0-6BEC-32B6-A619-93B14D0E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97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Söhne"/>
              </a:rPr>
              <a:t>Slowly Changing Dimensions (SCD)</a:t>
            </a:r>
            <a:endParaRPr lang="en-PS" sz="3200" b="1" dirty="0">
              <a:latin typeface="Söhn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650B-0CFC-EFA4-6315-6E615B80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84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0" indent="0">
              <a:buNone/>
            </a:pPr>
            <a:r>
              <a:rPr lang="en-US" sz="2000" dirty="0"/>
              <a:t>Slowly Changing Dimensions (SCD) handle changes in dimension data over time while preserving historical accuracy.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Why SCD is Important: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Dimensions often evolve (e.g., a customer changes their address or a product gets rebranded).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Ensures accurate reporting and trend analysis.</a:t>
            </a:r>
          </a:p>
          <a:p>
            <a:pPr marL="457200" lvl="1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Key Challenge:</a:t>
            </a:r>
          </a:p>
          <a:p>
            <a:pPr marL="0" indent="0">
              <a:buNone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Balancing historical integrity with current data relevance.</a:t>
            </a:r>
          </a:p>
          <a:p>
            <a:pPr marL="0" indent="0">
              <a:buNone/>
            </a:pPr>
            <a:endParaRPr lang="en-PS" dirty="0"/>
          </a:p>
        </p:txBody>
      </p:sp>
    </p:spTree>
    <p:extLst>
      <p:ext uri="{BB962C8B-B14F-4D97-AF65-F5344CB8AC3E}">
        <p14:creationId xmlns:p14="http://schemas.microsoft.com/office/powerpoint/2010/main" val="4013225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DD92-682D-30FD-69C2-1B2D8D5A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934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Söhne"/>
              </a:rPr>
              <a:t>Slowly Changing Dimensions (SCD) Techniques</a:t>
            </a:r>
            <a:endParaRPr lang="en-PS" sz="3200" b="1" dirty="0">
              <a:latin typeface="Söhne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7F2120-105F-4A76-1FCB-5B6FD8A4F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3565"/>
            <a:ext cx="10156675" cy="3568182"/>
          </a:xfrm>
        </p:spPr>
      </p:pic>
    </p:spTree>
    <p:extLst>
      <p:ext uri="{BB962C8B-B14F-4D97-AF65-F5344CB8AC3E}">
        <p14:creationId xmlns:p14="http://schemas.microsoft.com/office/powerpoint/2010/main" val="613970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at are Slowly Changing Dimensions (SCDs)?">
            <a:extLst>
              <a:ext uri="{FF2B5EF4-FFF2-40B4-BE49-F238E27FC236}">
                <a16:creationId xmlns:a16="http://schemas.microsoft.com/office/drawing/2014/main" id="{0B086201-FE1B-D41A-5CF0-373A8743D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439" y="317676"/>
            <a:ext cx="9161121" cy="622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24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C0A7-807D-12CC-A165-8E4CC714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999"/>
          </a:xfrm>
        </p:spPr>
        <p:txBody>
          <a:bodyPr>
            <a:normAutofit fontScale="90000"/>
          </a:bodyPr>
          <a:lstStyle/>
          <a:p>
            <a:pPr algn="ctr"/>
            <a:r>
              <a:rPr lang="en-PS" sz="3600" dirty="0"/>
              <a:t>End of the </a:t>
            </a:r>
            <a:r>
              <a:rPr lang="en-US" sz="3600" dirty="0"/>
              <a:t>Lecture # 2</a:t>
            </a:r>
            <a:r>
              <a:rPr lang="en-PS" sz="3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8E6D7-E71B-47F7-6237-1F32502DE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S" sz="6600" b="1" dirty="0"/>
              <a:t>Qustions ?? </a:t>
            </a:r>
            <a:r>
              <a:rPr lang="en-PS" sz="2000" dirty="0"/>
              <a:t>(5mins)</a:t>
            </a:r>
            <a:endParaRPr lang="en-PS" sz="6600" dirty="0"/>
          </a:p>
          <a:p>
            <a:pPr marL="0" indent="0">
              <a:buNone/>
            </a:pPr>
            <a:r>
              <a:rPr lang="en-PS" sz="6600" b="1" dirty="0"/>
              <a:t>Open disscuation .. </a:t>
            </a:r>
            <a:r>
              <a:rPr lang="en-PS" sz="2000" dirty="0"/>
              <a:t>(3mins)</a:t>
            </a:r>
            <a:endParaRPr lang="en-PS" sz="3600" dirty="0"/>
          </a:p>
          <a:p>
            <a:pPr marL="0" indent="0">
              <a:buNone/>
            </a:pPr>
            <a:endParaRPr lang="en-PS" sz="6600" b="1" dirty="0"/>
          </a:p>
        </p:txBody>
      </p:sp>
      <p:pic>
        <p:nvPicPr>
          <p:cNvPr id="1026" name="Picture 2" descr="Cloud computing Pixel Perfect Flat icon">
            <a:extLst>
              <a:ext uri="{FF2B5EF4-FFF2-40B4-BE49-F238E27FC236}">
                <a16:creationId xmlns:a16="http://schemas.microsoft.com/office/drawing/2014/main" id="{00F1ABD7-C5A6-F82D-562C-A31A4BCD8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590" y="3196220"/>
            <a:ext cx="2849944" cy="284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068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879</Words>
  <Application>Microsoft Macintosh PowerPoint</Application>
  <PresentationFormat>Widescreen</PresentationFormat>
  <Paragraphs>160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Rounded MT Bold</vt:lpstr>
      <vt:lpstr>Calibri</vt:lpstr>
      <vt:lpstr>Calibri Light</vt:lpstr>
      <vt:lpstr>Franklin Gothic Medium</vt:lpstr>
      <vt:lpstr>Söhne</vt:lpstr>
      <vt:lpstr>Office Theme</vt:lpstr>
      <vt:lpstr>Data Warehouses 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Benefits and Challenges of Normalization &amp; Denormalization</vt:lpstr>
      <vt:lpstr>Dimensional Modeling vs. Entity-Relationship Modeling </vt:lpstr>
      <vt:lpstr>Dimensional Modeling vs. Entity-Relationship Modeling- Key Differences </vt:lpstr>
      <vt:lpstr>DM vs. ERM : When to Use Each Approach? </vt:lpstr>
      <vt:lpstr>Introduction to Dimensional Modeling </vt:lpstr>
      <vt:lpstr>Example</vt:lpstr>
      <vt:lpstr>Dimensional Modeling: Fact Tables </vt:lpstr>
      <vt:lpstr>Dimensional Modeling: Dimension Tables</vt:lpstr>
      <vt:lpstr>Dimensional Modeling: Fact Tables vs. Dimension Tables </vt:lpstr>
      <vt:lpstr>Data Model</vt:lpstr>
      <vt:lpstr>Star Schema</vt:lpstr>
      <vt:lpstr>PowerPoint Presentation</vt:lpstr>
      <vt:lpstr>PowerPoint Presentation</vt:lpstr>
      <vt:lpstr>Comparing Star and Snowflake Schemas</vt:lpstr>
      <vt:lpstr>Slowly Changing Dimensions (SCD)</vt:lpstr>
      <vt:lpstr>Slowly Changing Dimensions (SCD) Techniques</vt:lpstr>
      <vt:lpstr>PowerPoint Presentation</vt:lpstr>
      <vt:lpstr>End of the Lecture # 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Warehouses </dc:title>
  <dc:creator>Microsoft Office User</dc:creator>
  <cp:lastModifiedBy>Microsoft Office User</cp:lastModifiedBy>
  <cp:revision>86</cp:revision>
  <dcterms:created xsi:type="dcterms:W3CDTF">2023-09-22T12:22:46Z</dcterms:created>
  <dcterms:modified xsi:type="dcterms:W3CDTF">2024-11-20T17:58:19Z</dcterms:modified>
</cp:coreProperties>
</file>